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2" Target="../media/image2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svg" Type="http://schemas.openxmlformats.org/officeDocument/2006/relationships/image"/><Relationship Id="rId12" Target="../media/image50.png" Type="http://schemas.openxmlformats.org/officeDocument/2006/relationships/image"/><Relationship Id="rId13" Target="../media/image51.svg" Type="http://schemas.openxmlformats.org/officeDocument/2006/relationships/image"/><Relationship Id="rId14" Target="../media/image52.png" Type="http://schemas.openxmlformats.org/officeDocument/2006/relationships/image"/><Relationship Id="rId15" Target="../media/image53.svg" Type="http://schemas.openxmlformats.org/officeDocument/2006/relationships/image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18157">
            <a:off x="11732794" y="682719"/>
            <a:ext cx="3206106" cy="4267695"/>
          </a:xfrm>
          <a:custGeom>
            <a:avLst/>
            <a:gdLst/>
            <a:ahLst/>
            <a:cxnLst/>
            <a:rect r="r" b="b" t="t" l="l"/>
            <a:pathLst>
              <a:path h="4267695" w="3206106">
                <a:moveTo>
                  <a:pt x="0" y="0"/>
                </a:moveTo>
                <a:lnTo>
                  <a:pt x="3206106" y="0"/>
                </a:lnTo>
                <a:lnTo>
                  <a:pt x="3206106" y="4267694"/>
                </a:lnTo>
                <a:lnTo>
                  <a:pt x="0" y="4267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28184" y="9033828"/>
            <a:ext cx="11356945" cy="748910"/>
            <a:chOff x="0" y="0"/>
            <a:chExt cx="2991130" cy="1972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91130" cy="197244"/>
            </a:xfrm>
            <a:custGeom>
              <a:avLst/>
              <a:gdLst/>
              <a:ahLst/>
              <a:cxnLst/>
              <a:rect r="r" b="b" t="t" l="l"/>
              <a:pathLst>
                <a:path h="197244" w="2991130">
                  <a:moveTo>
                    <a:pt x="34766" y="0"/>
                  </a:moveTo>
                  <a:lnTo>
                    <a:pt x="2956363" y="0"/>
                  </a:lnTo>
                  <a:cubicBezTo>
                    <a:pt x="2975564" y="0"/>
                    <a:pt x="2991130" y="15565"/>
                    <a:pt x="2991130" y="34766"/>
                  </a:cubicBezTo>
                  <a:lnTo>
                    <a:pt x="2991130" y="162477"/>
                  </a:lnTo>
                  <a:cubicBezTo>
                    <a:pt x="2991130" y="171698"/>
                    <a:pt x="2987467" y="180541"/>
                    <a:pt x="2980947" y="187061"/>
                  </a:cubicBezTo>
                  <a:cubicBezTo>
                    <a:pt x="2974427" y="193581"/>
                    <a:pt x="2965584" y="197244"/>
                    <a:pt x="2956363" y="197244"/>
                  </a:cubicBezTo>
                  <a:lnTo>
                    <a:pt x="34766" y="197244"/>
                  </a:lnTo>
                  <a:cubicBezTo>
                    <a:pt x="15565" y="197244"/>
                    <a:pt x="0" y="181678"/>
                    <a:pt x="0" y="162477"/>
                  </a:cubicBezTo>
                  <a:lnTo>
                    <a:pt x="0" y="34766"/>
                  </a:lnTo>
                  <a:cubicBezTo>
                    <a:pt x="0" y="15565"/>
                    <a:pt x="15565" y="0"/>
                    <a:pt x="34766" y="0"/>
                  </a:cubicBezTo>
                  <a:close/>
                </a:path>
              </a:pathLst>
            </a:custGeom>
            <a:solidFill>
              <a:srgbClr val="DFDFD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91130" cy="235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374118">
            <a:off x="11131780" y="2684984"/>
            <a:ext cx="4731360" cy="3179194"/>
          </a:xfrm>
          <a:custGeom>
            <a:avLst/>
            <a:gdLst/>
            <a:ahLst/>
            <a:cxnLst/>
            <a:rect r="r" b="b" t="t" l="l"/>
            <a:pathLst>
              <a:path h="3179194" w="4731360">
                <a:moveTo>
                  <a:pt x="4731360" y="0"/>
                </a:moveTo>
                <a:lnTo>
                  <a:pt x="0" y="0"/>
                </a:lnTo>
                <a:lnTo>
                  <a:pt x="0" y="3179194"/>
                </a:lnTo>
                <a:lnTo>
                  <a:pt x="4731360" y="3179194"/>
                </a:lnTo>
                <a:lnTo>
                  <a:pt x="473136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4052" y="157155"/>
            <a:ext cx="11595715" cy="152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26"/>
              </a:lnSpc>
            </a:pPr>
            <a:r>
              <a:rPr lang="en-US" sz="844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Executive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0692" y="1619111"/>
            <a:ext cx="9802433" cy="293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4"/>
              </a:lnSpc>
            </a:pPr>
            <a:r>
              <a:rPr lang="en-US" sz="16274" b="true">
                <a:solidFill>
                  <a:srgbClr val="FF3D00"/>
                </a:solidFill>
                <a:latin typeface="Poppins Bold"/>
                <a:ea typeface="Poppins Bold"/>
                <a:cs typeface="Poppins Bold"/>
                <a:sym typeface="Poppins Bold"/>
              </a:rPr>
              <a:t>41.72 %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0692" y="4401495"/>
            <a:ext cx="7774201" cy="144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406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of booking attempts did not result in completed rides</a:t>
            </a:r>
          </a:p>
        </p:txBody>
      </p:sp>
      <p:sp>
        <p:nvSpPr>
          <p:cNvPr name="TextBox 10" id="10"/>
          <p:cNvSpPr txBox="true"/>
          <p:nvPr/>
        </p:nvSpPr>
        <p:spPr>
          <a:xfrm rot="654825">
            <a:off x="12772094" y="1549804"/>
            <a:ext cx="1567116" cy="735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6"/>
              </a:lnSpc>
            </a:pPr>
            <a:r>
              <a:rPr lang="en-US" sz="409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OLA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70692" y="6515649"/>
            <a:ext cx="17031583" cy="2080029"/>
            <a:chOff x="0" y="0"/>
            <a:chExt cx="22708777" cy="277337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1328303" cy="2773372"/>
              <a:chOff x="0" y="0"/>
              <a:chExt cx="4025303" cy="52342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025304" cy="523420"/>
              </a:xfrm>
              <a:custGeom>
                <a:avLst/>
                <a:gdLst/>
                <a:ahLst/>
                <a:cxnLst/>
                <a:rect r="r" b="b" t="t" l="l"/>
                <a:pathLst>
                  <a:path h="523420" w="4025304">
                    <a:moveTo>
                      <a:pt x="25834" y="0"/>
                    </a:moveTo>
                    <a:lnTo>
                      <a:pt x="3999469" y="0"/>
                    </a:lnTo>
                    <a:cubicBezTo>
                      <a:pt x="4006321" y="0"/>
                      <a:pt x="4012892" y="2722"/>
                      <a:pt x="4017737" y="7567"/>
                    </a:cubicBezTo>
                    <a:cubicBezTo>
                      <a:pt x="4022582" y="12411"/>
                      <a:pt x="4025304" y="18982"/>
                      <a:pt x="4025304" y="25834"/>
                    </a:cubicBezTo>
                    <a:lnTo>
                      <a:pt x="4025304" y="497586"/>
                    </a:lnTo>
                    <a:cubicBezTo>
                      <a:pt x="4025304" y="504438"/>
                      <a:pt x="4022582" y="511009"/>
                      <a:pt x="4017737" y="515853"/>
                    </a:cubicBezTo>
                    <a:cubicBezTo>
                      <a:pt x="4012892" y="520698"/>
                      <a:pt x="4006321" y="523420"/>
                      <a:pt x="3999469" y="523420"/>
                    </a:cubicBezTo>
                    <a:lnTo>
                      <a:pt x="25834" y="523420"/>
                    </a:lnTo>
                    <a:cubicBezTo>
                      <a:pt x="11566" y="523420"/>
                      <a:pt x="0" y="511854"/>
                      <a:pt x="0" y="497586"/>
                    </a:cubicBezTo>
                    <a:lnTo>
                      <a:pt x="0" y="25834"/>
                    </a:lnTo>
                    <a:cubicBezTo>
                      <a:pt x="0" y="18982"/>
                      <a:pt x="2722" y="12411"/>
                      <a:pt x="7567" y="7567"/>
                    </a:cubicBezTo>
                    <a:cubicBezTo>
                      <a:pt x="12411" y="2722"/>
                      <a:pt x="18982" y="0"/>
                      <a:pt x="2583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025303" cy="5615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5" id="15"/>
            <p:cNvSpPr/>
            <p:nvPr/>
          </p:nvSpPr>
          <p:spPr>
            <a:xfrm flipV="true">
              <a:off x="6421091" y="305316"/>
              <a:ext cx="0" cy="2255381"/>
            </a:xfrm>
            <a:prstGeom prst="line">
              <a:avLst/>
            </a:prstGeom>
            <a:ln cap="flat" w="53169">
              <a:solidFill>
                <a:srgbClr val="59565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87246" y="587927"/>
              <a:ext cx="1403863" cy="1559848"/>
            </a:xfrm>
            <a:custGeom>
              <a:avLst/>
              <a:gdLst/>
              <a:ahLst/>
              <a:cxnLst/>
              <a:rect r="r" b="b" t="t" l="l"/>
              <a:pathLst>
                <a:path h="1559848" w="1403863">
                  <a:moveTo>
                    <a:pt x="0" y="0"/>
                  </a:moveTo>
                  <a:lnTo>
                    <a:pt x="1403863" y="0"/>
                  </a:lnTo>
                  <a:lnTo>
                    <a:pt x="1403863" y="1559848"/>
                  </a:lnTo>
                  <a:lnTo>
                    <a:pt x="0" y="1559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7" id="17"/>
            <p:cNvSpPr/>
            <p:nvPr/>
          </p:nvSpPr>
          <p:spPr>
            <a:xfrm flipV="true">
              <a:off x="12596962" y="305316"/>
              <a:ext cx="0" cy="2255381"/>
            </a:xfrm>
            <a:prstGeom prst="line">
              <a:avLst/>
            </a:prstGeom>
            <a:ln cap="flat" w="53169">
              <a:solidFill>
                <a:srgbClr val="59565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819857" y="566251"/>
              <a:ext cx="1743732" cy="1559848"/>
            </a:xfrm>
            <a:custGeom>
              <a:avLst/>
              <a:gdLst/>
              <a:ahLst/>
              <a:cxnLst/>
              <a:rect r="r" b="b" t="t" l="l"/>
              <a:pathLst>
                <a:path h="1559848" w="1743732">
                  <a:moveTo>
                    <a:pt x="0" y="0"/>
                  </a:moveTo>
                  <a:lnTo>
                    <a:pt x="1743732" y="0"/>
                  </a:lnTo>
                  <a:lnTo>
                    <a:pt x="1743732" y="1559848"/>
                  </a:lnTo>
                  <a:lnTo>
                    <a:pt x="0" y="1559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2969143" y="508621"/>
              <a:ext cx="1859171" cy="1617478"/>
            </a:xfrm>
            <a:custGeom>
              <a:avLst/>
              <a:gdLst/>
              <a:ahLst/>
              <a:cxnLst/>
              <a:rect r="r" b="b" t="t" l="l"/>
              <a:pathLst>
                <a:path h="1617478" w="1859171">
                  <a:moveTo>
                    <a:pt x="0" y="0"/>
                  </a:moveTo>
                  <a:lnTo>
                    <a:pt x="1859170" y="0"/>
                  </a:lnTo>
                  <a:lnTo>
                    <a:pt x="1859170" y="1617478"/>
                  </a:lnTo>
                  <a:lnTo>
                    <a:pt x="0" y="1617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316459" y="420750"/>
              <a:ext cx="3887231" cy="1727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3"/>
                </a:lnSpc>
              </a:pPr>
              <a:r>
                <a:rPr lang="en-US" sz="457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103,024</a:t>
              </a:r>
            </a:p>
            <a:p>
              <a:pPr algn="l">
                <a:lnSpc>
                  <a:spcPts val="3912"/>
                </a:lnSpc>
              </a:pPr>
              <a:r>
                <a:rPr lang="en-US" sz="279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Total Bookings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8935770" y="464102"/>
              <a:ext cx="3475101" cy="1727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3"/>
                </a:lnSpc>
              </a:pPr>
              <a:r>
                <a:rPr lang="en-US" sz="457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58,28%</a:t>
              </a:r>
            </a:p>
            <a:p>
              <a:pPr algn="l">
                <a:lnSpc>
                  <a:spcPts val="3912"/>
                </a:lnSpc>
              </a:pPr>
              <a:r>
                <a:rPr lang="en-US" sz="279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Completed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5439754" y="361601"/>
              <a:ext cx="7269023" cy="1835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89"/>
                </a:lnSpc>
              </a:pPr>
              <a:r>
                <a:rPr lang="en-US" sz="4992" b="true">
                  <a:solidFill>
                    <a:srgbClr val="FF3D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₹ 23.7 M</a:t>
              </a:r>
            </a:p>
            <a:p>
              <a:pPr algn="l">
                <a:lnSpc>
                  <a:spcPts val="3912"/>
                </a:lnSpc>
              </a:pPr>
              <a:r>
                <a:rPr lang="en-US" sz="279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Booking Value at Risk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827663" y="9184131"/>
            <a:ext cx="11260752" cy="39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208" b="true">
                <a:solidFill>
                  <a:srgbClr val="595656"/>
                </a:solidFill>
                <a:latin typeface="Poppins Bold"/>
                <a:ea typeface="Poppins Bold"/>
                <a:cs typeface="Poppins Bold"/>
                <a:sym typeface="Poppins Bold"/>
              </a:rPr>
              <a:t>Operational and supply-side issues are the primary drivers of ride failure</a:t>
            </a:r>
          </a:p>
        </p:txBody>
      </p:sp>
      <p:sp>
        <p:nvSpPr>
          <p:cNvPr name="AutoShape 24" id="24"/>
          <p:cNvSpPr/>
          <p:nvPr/>
        </p:nvSpPr>
        <p:spPr>
          <a:xfrm>
            <a:off x="633341" y="1964230"/>
            <a:ext cx="1067699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4552" y="436595"/>
            <a:ext cx="11595715" cy="152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26"/>
              </a:lnSpc>
            </a:pPr>
            <a:r>
              <a:rPr lang="en-US" sz="844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Problem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75727" y="4890661"/>
            <a:ext cx="7349297" cy="4426564"/>
            <a:chOff x="0" y="0"/>
            <a:chExt cx="2171571" cy="13079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1571" cy="1307962"/>
            </a:xfrm>
            <a:custGeom>
              <a:avLst/>
              <a:gdLst/>
              <a:ahLst/>
              <a:cxnLst/>
              <a:rect r="r" b="b" t="t" l="l"/>
              <a:pathLst>
                <a:path h="1307962" w="2171571">
                  <a:moveTo>
                    <a:pt x="53725" y="0"/>
                  </a:moveTo>
                  <a:lnTo>
                    <a:pt x="2117846" y="0"/>
                  </a:lnTo>
                  <a:cubicBezTo>
                    <a:pt x="2132095" y="0"/>
                    <a:pt x="2145760" y="5660"/>
                    <a:pt x="2155835" y="15736"/>
                  </a:cubicBezTo>
                  <a:cubicBezTo>
                    <a:pt x="2165911" y="25811"/>
                    <a:pt x="2171571" y="39476"/>
                    <a:pt x="2171571" y="53725"/>
                  </a:cubicBezTo>
                  <a:lnTo>
                    <a:pt x="2171571" y="1254237"/>
                  </a:lnTo>
                  <a:cubicBezTo>
                    <a:pt x="2171571" y="1283908"/>
                    <a:pt x="2147518" y="1307962"/>
                    <a:pt x="2117846" y="1307962"/>
                  </a:cubicBezTo>
                  <a:lnTo>
                    <a:pt x="53725" y="1307962"/>
                  </a:lnTo>
                  <a:cubicBezTo>
                    <a:pt x="24053" y="1307962"/>
                    <a:pt x="0" y="1283908"/>
                    <a:pt x="0" y="1254237"/>
                  </a:cubicBezTo>
                  <a:lnTo>
                    <a:pt x="0" y="53725"/>
                  </a:lnTo>
                  <a:cubicBezTo>
                    <a:pt x="0" y="24053"/>
                    <a:pt x="24053" y="0"/>
                    <a:pt x="5372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71571" cy="1346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68558" y="5182213"/>
            <a:ext cx="6585787" cy="3744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77"/>
              </a:lnSpc>
            </a:pPr>
            <a:r>
              <a:rPr lang="en-US" sz="526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More than </a:t>
            </a:r>
            <a:r>
              <a:rPr lang="en-US" sz="5269" b="true">
                <a:solidFill>
                  <a:srgbClr val="FF3D00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  <a:r>
              <a:rPr lang="en-US" sz="526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in </a:t>
            </a:r>
            <a:r>
              <a:rPr lang="en-US" sz="5269" b="true">
                <a:solidFill>
                  <a:srgbClr val="FF3D00"/>
                </a:solidFill>
                <a:latin typeface="Poppins Bold"/>
                <a:ea typeface="Poppins Bold"/>
                <a:cs typeface="Poppins Bold"/>
                <a:sym typeface="Poppins Bold"/>
              </a:rPr>
              <a:t>10 </a:t>
            </a:r>
            <a:r>
              <a:rPr lang="en-US" sz="526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 attempts fail to convert into completed rides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025381" y="2004894"/>
            <a:ext cx="8496394" cy="8496394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1589167" y="5509447"/>
            <a:ext cx="3274039" cy="138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b="true" sz="4875" spc="-58">
                <a:solidFill>
                  <a:srgbClr val="00BF15"/>
                </a:solidFill>
                <a:latin typeface="Poppins Bold"/>
                <a:ea typeface="Poppins Bold"/>
                <a:cs typeface="Poppins Bold"/>
                <a:sym typeface="Poppins Bold"/>
              </a:rPr>
              <a:t>58.28%</a:t>
            </a:r>
          </a:p>
          <a:p>
            <a:pPr algn="ctr">
              <a:lnSpc>
                <a:spcPts val="4798"/>
              </a:lnSpc>
            </a:pPr>
            <a:r>
              <a:rPr lang="en-US" b="true" sz="3933" spc="-47">
                <a:solidFill>
                  <a:srgbClr val="00BF15"/>
                </a:solidFill>
                <a:latin typeface="Poppins Bold"/>
                <a:ea typeface="Poppins Bold"/>
                <a:cs typeface="Poppins Bold"/>
                <a:sym typeface="Poppins Bold"/>
              </a:rPr>
              <a:t>Completed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1881" y="2307254"/>
            <a:ext cx="7832619" cy="212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16"/>
              </a:lnSpc>
            </a:pPr>
            <a:r>
              <a:rPr lang="en-US" sz="401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effectively is customer demand converted into completed rides?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7275" y="1965104"/>
            <a:ext cx="8929723" cy="7913033"/>
            <a:chOff x="0" y="0"/>
            <a:chExt cx="11906297" cy="1055071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0">
              <a:off x="-1190630" y="-1190630"/>
              <a:ext cx="14287556" cy="12931969"/>
            </a:xfrm>
            <a:prstGeom prst="rect">
              <a:avLst/>
            </a:prstGeom>
          </p:spPr>
        </p:pic>
        <p:grpSp>
          <p:nvGrpSpPr>
            <p:cNvPr name="Group 4" id="4"/>
            <p:cNvGrpSpPr/>
            <p:nvPr/>
          </p:nvGrpSpPr>
          <p:grpSpPr>
            <a:xfrm rot="0">
              <a:off x="10005514" y="123061"/>
              <a:ext cx="1900783" cy="9976072"/>
              <a:chOff x="0" y="0"/>
              <a:chExt cx="375463" cy="197058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75463" cy="1970582"/>
              </a:xfrm>
              <a:custGeom>
                <a:avLst/>
                <a:gdLst/>
                <a:ahLst/>
                <a:cxnLst/>
                <a:rect r="r" b="b" t="t" l="l"/>
                <a:pathLst>
                  <a:path h="1970582" w="375463">
                    <a:moveTo>
                      <a:pt x="0" y="0"/>
                    </a:moveTo>
                    <a:lnTo>
                      <a:pt x="375463" y="0"/>
                    </a:lnTo>
                    <a:lnTo>
                      <a:pt x="375463" y="1970582"/>
                    </a:lnTo>
                    <a:lnTo>
                      <a:pt x="0" y="197058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75463" cy="20086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830073" y="760870"/>
              <a:ext cx="8671352" cy="1425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72"/>
                </a:lnSpc>
              </a:pPr>
              <a:r>
                <a:rPr lang="en-US" sz="441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103,024</a:t>
              </a:r>
            </a:p>
            <a:p>
              <a:pPr algn="ctr">
                <a:lnSpc>
                  <a:spcPts val="3368"/>
                </a:lnSpc>
              </a:pPr>
              <a:r>
                <a:rPr lang="en-US" sz="311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Requests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30073" y="2577355"/>
              <a:ext cx="8671352" cy="1425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72"/>
                </a:lnSpc>
              </a:pPr>
              <a:r>
                <a:rPr lang="en-US" sz="441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92,891</a:t>
              </a:r>
            </a:p>
            <a:p>
              <a:pPr algn="ctr">
                <a:lnSpc>
                  <a:spcPts val="3368"/>
                </a:lnSpc>
              </a:pPr>
              <a:r>
                <a:rPr lang="en-US" sz="311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Driver Matched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30073" y="4567138"/>
              <a:ext cx="8671352" cy="1425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72"/>
                </a:lnSpc>
              </a:pPr>
              <a:r>
                <a:rPr lang="en-US" sz="441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74,457</a:t>
              </a:r>
            </a:p>
            <a:p>
              <a:pPr algn="ctr">
                <a:lnSpc>
                  <a:spcPts val="3368"/>
                </a:lnSpc>
              </a:pPr>
              <a:r>
                <a:rPr lang="en-US" sz="311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Driver Confirmed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830073" y="6548722"/>
              <a:ext cx="8671352" cy="1425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72"/>
                </a:lnSpc>
              </a:pPr>
              <a:r>
                <a:rPr lang="en-US" sz="441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63,958</a:t>
              </a:r>
            </a:p>
            <a:p>
              <a:pPr algn="ctr">
                <a:lnSpc>
                  <a:spcPts val="3368"/>
                </a:lnSpc>
              </a:pPr>
              <a:r>
                <a:rPr lang="en-US" sz="311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 Confirmed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30073" y="8365207"/>
              <a:ext cx="8671352" cy="1425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72"/>
                </a:lnSpc>
              </a:pPr>
              <a:r>
                <a:rPr lang="en-US" sz="441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60,041</a:t>
              </a:r>
            </a:p>
            <a:p>
              <a:pPr algn="ctr">
                <a:lnSpc>
                  <a:spcPts val="3368"/>
                </a:lnSpc>
              </a:pPr>
              <a:r>
                <a:rPr lang="en-US" sz="311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Completed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8907962" y="2944943"/>
            <a:ext cx="194852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" id="13"/>
          <p:cNvSpPr/>
          <p:nvPr/>
        </p:nvSpPr>
        <p:spPr>
          <a:xfrm>
            <a:off x="8107862" y="4512662"/>
            <a:ext cx="194852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" id="14"/>
          <p:cNvSpPr/>
          <p:nvPr/>
        </p:nvSpPr>
        <p:spPr>
          <a:xfrm>
            <a:off x="7508848" y="6080381"/>
            <a:ext cx="194852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>
            <a:off x="7303011" y="7648099"/>
            <a:ext cx="194852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0265932" y="4033603"/>
            <a:ext cx="6993368" cy="1109897"/>
          </a:xfrm>
          <a:custGeom>
            <a:avLst/>
            <a:gdLst/>
            <a:ahLst/>
            <a:cxnLst/>
            <a:rect r="r" b="b" t="t" l="l"/>
            <a:pathLst>
              <a:path h="1109897" w="6993368">
                <a:moveTo>
                  <a:pt x="0" y="0"/>
                </a:moveTo>
                <a:lnTo>
                  <a:pt x="6993368" y="0"/>
                </a:lnTo>
                <a:lnTo>
                  <a:pt x="6993368" y="1109897"/>
                </a:lnTo>
                <a:lnTo>
                  <a:pt x="0" y="1109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58337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64552" y="312770"/>
            <a:ext cx="14772623" cy="152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26"/>
              </a:lnSpc>
            </a:pPr>
            <a:r>
              <a:rPr lang="en-US" sz="844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Where are Bookings Lost?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66032" y="2608759"/>
            <a:ext cx="6993368" cy="56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⬇10,133 Rides : Driver Not Found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65932" y="4176478"/>
            <a:ext cx="6993368" cy="56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9"/>
              </a:lnSpc>
            </a:pPr>
            <a:r>
              <a:rPr lang="en-US" b="true" sz="3178">
                <a:solidFill>
                  <a:srgbClr val="FF3D00"/>
                </a:solidFill>
                <a:latin typeface="Poppins Bold"/>
                <a:ea typeface="Poppins Bold"/>
                <a:cs typeface="Poppins Bold"/>
                <a:sym typeface="Poppins Bold"/>
              </a:rPr>
              <a:t>⬇18,434 Rides : Driver Cancelled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66919" y="5744196"/>
            <a:ext cx="7592381" cy="56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⬇10,499 Rides : Customer Cancelled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61081" y="7311915"/>
            <a:ext cx="5367973" cy="56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⬇3,917 Rides : Incomplete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265932" y="5143500"/>
            <a:ext cx="6993368" cy="613010"/>
          </a:xfrm>
          <a:custGeom>
            <a:avLst/>
            <a:gdLst/>
            <a:ahLst/>
            <a:cxnLst/>
            <a:rect r="r" b="b" t="t" l="l"/>
            <a:pathLst>
              <a:path h="613010" w="6993368">
                <a:moveTo>
                  <a:pt x="0" y="0"/>
                </a:moveTo>
                <a:lnTo>
                  <a:pt x="6993368" y="0"/>
                </a:lnTo>
                <a:lnTo>
                  <a:pt x="6993368" y="613010"/>
                </a:lnTo>
                <a:lnTo>
                  <a:pt x="0" y="613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5" t="0" r="-3137" b="-38880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613623" y="8358977"/>
            <a:ext cx="9958569" cy="163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87"/>
              </a:lnSpc>
            </a:pPr>
            <a:r>
              <a:rPr lang="en-US" sz="3062" b="true">
                <a:solidFill>
                  <a:srgbClr val="595656"/>
                </a:solidFill>
                <a:latin typeface="Poppins Bold"/>
                <a:ea typeface="Poppins Bold"/>
                <a:cs typeface="Poppins Bold"/>
                <a:sym typeface="Poppins Bold"/>
              </a:rPr>
              <a:t>Over 18,000 rides were lost after driver confirmation, representing the most significant drop-off stage in the booking process.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2012" y="3822362"/>
            <a:ext cx="6914180" cy="5112040"/>
            <a:chOff x="0" y="0"/>
            <a:chExt cx="1821019" cy="13463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1019" cy="1346381"/>
            </a:xfrm>
            <a:custGeom>
              <a:avLst/>
              <a:gdLst/>
              <a:ahLst/>
              <a:cxnLst/>
              <a:rect r="r" b="b" t="t" l="l"/>
              <a:pathLst>
                <a:path h="1346381" w="1821019">
                  <a:moveTo>
                    <a:pt x="57106" y="0"/>
                  </a:moveTo>
                  <a:lnTo>
                    <a:pt x="1763913" y="0"/>
                  </a:lnTo>
                  <a:cubicBezTo>
                    <a:pt x="1795452" y="0"/>
                    <a:pt x="1821019" y="25567"/>
                    <a:pt x="1821019" y="57106"/>
                  </a:cubicBezTo>
                  <a:lnTo>
                    <a:pt x="1821019" y="1289275"/>
                  </a:lnTo>
                  <a:cubicBezTo>
                    <a:pt x="1821019" y="1320814"/>
                    <a:pt x="1795452" y="1346381"/>
                    <a:pt x="1763913" y="1346381"/>
                  </a:cubicBezTo>
                  <a:lnTo>
                    <a:pt x="57106" y="1346381"/>
                  </a:lnTo>
                  <a:cubicBezTo>
                    <a:pt x="25567" y="1346381"/>
                    <a:pt x="0" y="1320814"/>
                    <a:pt x="0" y="1289275"/>
                  </a:cubicBezTo>
                  <a:lnTo>
                    <a:pt x="0" y="57106"/>
                  </a:lnTo>
                  <a:cubicBezTo>
                    <a:pt x="0" y="25567"/>
                    <a:pt x="25567" y="0"/>
                    <a:pt x="5710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1019" cy="138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00917" y="6675180"/>
            <a:ext cx="1505283" cy="1852223"/>
          </a:xfrm>
          <a:custGeom>
            <a:avLst/>
            <a:gdLst/>
            <a:ahLst/>
            <a:cxnLst/>
            <a:rect r="r" b="b" t="t" l="l"/>
            <a:pathLst>
              <a:path h="1852223" w="1505283">
                <a:moveTo>
                  <a:pt x="0" y="0"/>
                </a:moveTo>
                <a:lnTo>
                  <a:pt x="1505284" y="0"/>
                </a:lnTo>
                <a:lnTo>
                  <a:pt x="1505284" y="1852222"/>
                </a:lnTo>
                <a:lnTo>
                  <a:pt x="0" y="1852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364" t="0" r="-27102" b="-8467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855065" y="4825589"/>
            <a:ext cx="6232138" cy="19050"/>
          </a:xfrm>
          <a:prstGeom prst="line">
            <a:avLst/>
          </a:prstGeom>
          <a:ln cap="flat" w="38100">
            <a:solidFill>
              <a:srgbClr val="09691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647312" y="3822362"/>
            <a:ext cx="6914180" cy="5112040"/>
            <a:chOff x="0" y="0"/>
            <a:chExt cx="1821019" cy="13463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1019" cy="1346381"/>
            </a:xfrm>
            <a:custGeom>
              <a:avLst/>
              <a:gdLst/>
              <a:ahLst/>
              <a:cxnLst/>
              <a:rect r="r" b="b" t="t" l="l"/>
              <a:pathLst>
                <a:path h="1346381" w="1821019">
                  <a:moveTo>
                    <a:pt x="57106" y="0"/>
                  </a:moveTo>
                  <a:lnTo>
                    <a:pt x="1763913" y="0"/>
                  </a:lnTo>
                  <a:cubicBezTo>
                    <a:pt x="1795452" y="0"/>
                    <a:pt x="1821019" y="25567"/>
                    <a:pt x="1821019" y="57106"/>
                  </a:cubicBezTo>
                  <a:lnTo>
                    <a:pt x="1821019" y="1289275"/>
                  </a:lnTo>
                  <a:cubicBezTo>
                    <a:pt x="1821019" y="1320814"/>
                    <a:pt x="1795452" y="1346381"/>
                    <a:pt x="1763913" y="1346381"/>
                  </a:cubicBezTo>
                  <a:lnTo>
                    <a:pt x="57106" y="1346381"/>
                  </a:lnTo>
                  <a:cubicBezTo>
                    <a:pt x="25567" y="1346381"/>
                    <a:pt x="0" y="1320814"/>
                    <a:pt x="0" y="1289275"/>
                  </a:cubicBezTo>
                  <a:lnTo>
                    <a:pt x="0" y="57106"/>
                  </a:lnTo>
                  <a:cubicBezTo>
                    <a:pt x="0" y="25567"/>
                    <a:pt x="25567" y="0"/>
                    <a:pt x="5710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21019" cy="138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092064" y="6827580"/>
            <a:ext cx="1799370" cy="1741105"/>
          </a:xfrm>
          <a:custGeom>
            <a:avLst/>
            <a:gdLst/>
            <a:ahLst/>
            <a:cxnLst/>
            <a:rect r="r" b="b" t="t" l="l"/>
            <a:pathLst>
              <a:path h="1741105" w="1799370">
                <a:moveTo>
                  <a:pt x="0" y="0"/>
                </a:moveTo>
                <a:lnTo>
                  <a:pt x="1799370" y="0"/>
                </a:lnTo>
                <a:lnTo>
                  <a:pt x="1799370" y="1741104"/>
                </a:lnTo>
                <a:lnTo>
                  <a:pt x="0" y="1741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123" t="0" r="0" b="-1573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9970365" y="4825589"/>
            <a:ext cx="6232138" cy="19050"/>
          </a:xfrm>
          <a:prstGeom prst="line">
            <a:avLst/>
          </a:prstGeom>
          <a:ln cap="flat" w="38100">
            <a:solidFill>
              <a:srgbClr val="C4360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1915723">
            <a:off x="12580209" y="7179172"/>
            <a:ext cx="1467798" cy="483039"/>
          </a:xfrm>
          <a:custGeom>
            <a:avLst/>
            <a:gdLst/>
            <a:ahLst/>
            <a:cxnLst/>
            <a:rect r="r" b="b" t="t" l="l"/>
            <a:pathLst>
              <a:path h="483039" w="1467798">
                <a:moveTo>
                  <a:pt x="0" y="0"/>
                </a:moveTo>
                <a:lnTo>
                  <a:pt x="1467798" y="0"/>
                </a:lnTo>
                <a:lnTo>
                  <a:pt x="1467798" y="483039"/>
                </a:lnTo>
                <a:lnTo>
                  <a:pt x="0" y="4830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5579941">
            <a:off x="11824077" y="1968041"/>
            <a:ext cx="1263612" cy="1763925"/>
          </a:xfrm>
          <a:custGeom>
            <a:avLst/>
            <a:gdLst/>
            <a:ahLst/>
            <a:cxnLst/>
            <a:rect r="r" b="b" t="t" l="l"/>
            <a:pathLst>
              <a:path h="1763925" w="1263612">
                <a:moveTo>
                  <a:pt x="1263612" y="0"/>
                </a:moveTo>
                <a:lnTo>
                  <a:pt x="0" y="0"/>
                </a:lnTo>
                <a:lnTo>
                  <a:pt x="0" y="1763924"/>
                </a:lnTo>
                <a:lnTo>
                  <a:pt x="1263612" y="1763924"/>
                </a:lnTo>
                <a:lnTo>
                  <a:pt x="126361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64552" y="312770"/>
            <a:ext cx="9671231" cy="152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26"/>
              </a:lnSpc>
            </a:pPr>
            <a:r>
              <a:rPr lang="en-US" sz="844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Impact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2012" y="2030044"/>
            <a:ext cx="10440125" cy="87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3"/>
              </a:lnSpc>
            </a:pPr>
            <a:r>
              <a:rPr lang="en-US" sz="483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much value is being </a:t>
            </a:r>
            <a:r>
              <a:rPr lang="en-US" sz="4831" b="true">
                <a:solidFill>
                  <a:srgbClr val="C4360A"/>
                </a:solidFill>
                <a:latin typeface="Poppins Bold"/>
                <a:ea typeface="Poppins Bold"/>
                <a:cs typeface="Poppins Bold"/>
                <a:sym typeface="Poppins Bold"/>
              </a:rPr>
              <a:t>lost</a:t>
            </a:r>
            <a:r>
              <a:rPr lang="en-US" sz="483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3118" y="4720814"/>
            <a:ext cx="8380882" cy="181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79"/>
              </a:lnSpc>
            </a:pPr>
            <a:r>
              <a:rPr lang="en-US" sz="10056" b="true">
                <a:solidFill>
                  <a:srgbClr val="00BF15"/>
                </a:solidFill>
                <a:latin typeface="Poppins Bold"/>
                <a:ea typeface="Poppins Bold"/>
                <a:cs typeface="Poppins Bold"/>
                <a:sym typeface="Poppins Bold"/>
              </a:rPr>
              <a:t>₹ 32.83 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55007" y="4189792"/>
            <a:ext cx="6216154" cy="51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3418">
                <a:solidFill>
                  <a:srgbClr val="096914"/>
                </a:solidFill>
                <a:latin typeface="Poppins Bold"/>
                <a:ea typeface="Poppins Bold"/>
                <a:cs typeface="Poppins Bold"/>
                <a:sym typeface="Poppins Bold"/>
              </a:rPr>
              <a:t>COMPLETED BOOKING VALUE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78418" y="4720814"/>
            <a:ext cx="8380882" cy="181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79"/>
              </a:lnSpc>
            </a:pPr>
            <a:r>
              <a:rPr lang="en-US" b="true" sz="10056">
                <a:solidFill>
                  <a:srgbClr val="FF3D00"/>
                </a:solidFill>
                <a:latin typeface="Poppins Bold"/>
                <a:ea typeface="Poppins Bold"/>
                <a:cs typeface="Poppins Bold"/>
                <a:sym typeface="Poppins Bold"/>
              </a:rPr>
              <a:t>₹ 23.7 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53985" y="4189792"/>
            <a:ext cx="6248797" cy="51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b="true" sz="3418">
                <a:solidFill>
                  <a:srgbClr val="C4360A"/>
                </a:solidFill>
                <a:latin typeface="Poppins Bold"/>
                <a:ea typeface="Poppins Bold"/>
                <a:cs typeface="Poppins Bold"/>
                <a:sym typeface="Poppins Bold"/>
              </a:rPr>
              <a:t>U</a:t>
            </a:r>
            <a:r>
              <a:rPr lang="en-US" b="true" sz="3418">
                <a:solidFill>
                  <a:srgbClr val="C4360A"/>
                </a:solidFill>
                <a:latin typeface="Poppins Bold"/>
                <a:ea typeface="Poppins Bold"/>
                <a:cs typeface="Poppins Bold"/>
                <a:sym typeface="Poppins Bold"/>
              </a:rPr>
              <a:t>NREALISED BOOKING VALUE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82350"/>
            <a:ext cx="7811358" cy="4215045"/>
            <a:chOff x="0" y="0"/>
            <a:chExt cx="2057312" cy="1110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7312" cy="1110135"/>
            </a:xfrm>
            <a:custGeom>
              <a:avLst/>
              <a:gdLst/>
              <a:ahLst/>
              <a:cxnLst/>
              <a:rect r="r" b="b" t="t" l="l"/>
              <a:pathLst>
                <a:path h="1110135" w="2057312">
                  <a:moveTo>
                    <a:pt x="50547" y="0"/>
                  </a:moveTo>
                  <a:lnTo>
                    <a:pt x="2006766" y="0"/>
                  </a:lnTo>
                  <a:cubicBezTo>
                    <a:pt x="2020172" y="0"/>
                    <a:pt x="2033028" y="5325"/>
                    <a:pt x="2042508" y="14805"/>
                  </a:cubicBezTo>
                  <a:cubicBezTo>
                    <a:pt x="2051987" y="24284"/>
                    <a:pt x="2057312" y="37141"/>
                    <a:pt x="2057312" y="50547"/>
                  </a:cubicBezTo>
                  <a:lnTo>
                    <a:pt x="2057312" y="1059589"/>
                  </a:lnTo>
                  <a:cubicBezTo>
                    <a:pt x="2057312" y="1087505"/>
                    <a:pt x="2034682" y="1110135"/>
                    <a:pt x="2006766" y="1110135"/>
                  </a:cubicBezTo>
                  <a:lnTo>
                    <a:pt x="50547" y="1110135"/>
                  </a:lnTo>
                  <a:cubicBezTo>
                    <a:pt x="22631" y="1110135"/>
                    <a:pt x="0" y="1087505"/>
                    <a:pt x="0" y="1059589"/>
                  </a:cubicBezTo>
                  <a:lnTo>
                    <a:pt x="0" y="50547"/>
                  </a:lnTo>
                  <a:cubicBezTo>
                    <a:pt x="0" y="22631"/>
                    <a:pt x="22631" y="0"/>
                    <a:pt x="505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57312" cy="1148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082350"/>
            <a:ext cx="7811358" cy="1293311"/>
            <a:chOff x="0" y="0"/>
            <a:chExt cx="2057312" cy="340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7312" cy="340625"/>
            </a:xfrm>
            <a:custGeom>
              <a:avLst/>
              <a:gdLst/>
              <a:ahLst/>
              <a:cxnLst/>
              <a:rect r="r" b="b" t="t" l="l"/>
              <a:pathLst>
                <a:path h="340625" w="2057312">
                  <a:moveTo>
                    <a:pt x="50547" y="0"/>
                  </a:moveTo>
                  <a:lnTo>
                    <a:pt x="2006766" y="0"/>
                  </a:lnTo>
                  <a:cubicBezTo>
                    <a:pt x="2020172" y="0"/>
                    <a:pt x="2033028" y="5325"/>
                    <a:pt x="2042508" y="14805"/>
                  </a:cubicBezTo>
                  <a:cubicBezTo>
                    <a:pt x="2051987" y="24284"/>
                    <a:pt x="2057312" y="37141"/>
                    <a:pt x="2057312" y="50547"/>
                  </a:cubicBezTo>
                  <a:lnTo>
                    <a:pt x="2057312" y="290079"/>
                  </a:lnTo>
                  <a:cubicBezTo>
                    <a:pt x="2057312" y="317995"/>
                    <a:pt x="2034682" y="340625"/>
                    <a:pt x="2006766" y="340625"/>
                  </a:cubicBezTo>
                  <a:lnTo>
                    <a:pt x="50547" y="340625"/>
                  </a:lnTo>
                  <a:cubicBezTo>
                    <a:pt x="22631" y="340625"/>
                    <a:pt x="0" y="317995"/>
                    <a:pt x="0" y="290079"/>
                  </a:cubicBezTo>
                  <a:lnTo>
                    <a:pt x="0" y="50547"/>
                  </a:lnTo>
                  <a:cubicBezTo>
                    <a:pt x="0" y="22631"/>
                    <a:pt x="22631" y="0"/>
                    <a:pt x="50547" y="0"/>
                  </a:cubicBezTo>
                  <a:close/>
                </a:path>
              </a:pathLst>
            </a:custGeom>
            <a:solidFill>
              <a:srgbClr val="FF3D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57312" cy="37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2729005"/>
            <a:ext cx="646656" cy="646656"/>
          </a:xfrm>
          <a:custGeom>
            <a:avLst/>
            <a:gdLst/>
            <a:ahLst/>
            <a:cxnLst/>
            <a:rect r="r" b="b" t="t" l="l"/>
            <a:pathLst>
              <a:path h="646656" w="646656">
                <a:moveTo>
                  <a:pt x="0" y="0"/>
                </a:moveTo>
                <a:lnTo>
                  <a:pt x="646656" y="0"/>
                </a:lnTo>
                <a:lnTo>
                  <a:pt x="646656" y="646656"/>
                </a:lnTo>
                <a:lnTo>
                  <a:pt x="0" y="646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4552" y="282462"/>
            <a:ext cx="17490919" cy="148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05"/>
              </a:lnSpc>
            </a:pPr>
            <a:r>
              <a:rPr lang="en-US" sz="828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Causes Booking Failures?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193403" y="2719711"/>
            <a:ext cx="646656" cy="646656"/>
          </a:xfrm>
          <a:custGeom>
            <a:avLst/>
            <a:gdLst/>
            <a:ahLst/>
            <a:cxnLst/>
            <a:rect r="r" b="b" t="t" l="l"/>
            <a:pathLst>
              <a:path h="646656" w="646656">
                <a:moveTo>
                  <a:pt x="0" y="0"/>
                </a:moveTo>
                <a:lnTo>
                  <a:pt x="646655" y="0"/>
                </a:lnTo>
                <a:lnTo>
                  <a:pt x="646655" y="646655"/>
                </a:lnTo>
                <a:lnTo>
                  <a:pt x="0" y="64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10227" y="2376872"/>
            <a:ext cx="7729831" cy="65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7"/>
              </a:lnSpc>
            </a:pPr>
            <a:r>
              <a:rPr lang="en-US" sz="359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Driver</a:t>
            </a: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Cancellation Reasons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6126" y="3589492"/>
            <a:ext cx="7348856" cy="218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940" indent="-334970" lvl="1">
              <a:lnSpc>
                <a:spcPts val="4344"/>
              </a:lnSpc>
              <a:buAutoNum type="arabicPeriod" startAt="1"/>
            </a:pPr>
            <a:r>
              <a:rPr lang="en-US" b="true" sz="310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Personal &amp; car related issues</a:t>
            </a:r>
          </a:p>
          <a:p>
            <a:pPr algn="just" marL="669940" indent="-334970" lvl="1">
              <a:lnSpc>
                <a:spcPts val="4344"/>
              </a:lnSpc>
              <a:buAutoNum type="arabicPeriod" startAt="1"/>
            </a:pPr>
            <a:r>
              <a:rPr lang="en-US" sz="31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More than permitted passengers</a:t>
            </a:r>
          </a:p>
          <a:p>
            <a:pPr algn="just" marL="669940" indent="-334970" lvl="1">
              <a:lnSpc>
                <a:spcPts val="4344"/>
              </a:lnSpc>
              <a:buAutoNum type="arabicPeriod" startAt="1"/>
            </a:pPr>
            <a:r>
              <a:rPr lang="en-US" sz="31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Customer-related issues</a:t>
            </a:r>
          </a:p>
          <a:p>
            <a:pPr algn="just" marL="669940" indent="-334970" lvl="1">
              <a:lnSpc>
                <a:spcPts val="4344"/>
              </a:lnSpc>
              <a:buAutoNum type="arabicPeriod" startAt="1"/>
            </a:pPr>
            <a:r>
              <a:rPr lang="en-US" sz="31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Customer was coughing or sick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700389" y="2587480"/>
            <a:ext cx="7811358" cy="5751732"/>
            <a:chOff x="0" y="0"/>
            <a:chExt cx="2057312" cy="15148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57312" cy="1514860"/>
            </a:xfrm>
            <a:custGeom>
              <a:avLst/>
              <a:gdLst/>
              <a:ahLst/>
              <a:cxnLst/>
              <a:rect r="r" b="b" t="t" l="l"/>
              <a:pathLst>
                <a:path h="1514860" w="2057312">
                  <a:moveTo>
                    <a:pt x="50547" y="0"/>
                  </a:moveTo>
                  <a:lnTo>
                    <a:pt x="2006766" y="0"/>
                  </a:lnTo>
                  <a:cubicBezTo>
                    <a:pt x="2020172" y="0"/>
                    <a:pt x="2033028" y="5325"/>
                    <a:pt x="2042508" y="14805"/>
                  </a:cubicBezTo>
                  <a:cubicBezTo>
                    <a:pt x="2051987" y="24284"/>
                    <a:pt x="2057312" y="37141"/>
                    <a:pt x="2057312" y="50547"/>
                  </a:cubicBezTo>
                  <a:lnTo>
                    <a:pt x="2057312" y="1464313"/>
                  </a:lnTo>
                  <a:cubicBezTo>
                    <a:pt x="2057312" y="1492229"/>
                    <a:pt x="2034682" y="1514860"/>
                    <a:pt x="2006766" y="1514860"/>
                  </a:cubicBezTo>
                  <a:lnTo>
                    <a:pt x="50547" y="1514860"/>
                  </a:lnTo>
                  <a:cubicBezTo>
                    <a:pt x="22631" y="1514860"/>
                    <a:pt x="0" y="1492229"/>
                    <a:pt x="0" y="1464313"/>
                  </a:cubicBezTo>
                  <a:lnTo>
                    <a:pt x="0" y="50547"/>
                  </a:lnTo>
                  <a:cubicBezTo>
                    <a:pt x="0" y="22631"/>
                    <a:pt x="22631" y="0"/>
                    <a:pt x="505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57312" cy="1552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00389" y="2587480"/>
            <a:ext cx="7811358" cy="1293311"/>
            <a:chOff x="0" y="0"/>
            <a:chExt cx="2057312" cy="3406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57312" cy="340625"/>
            </a:xfrm>
            <a:custGeom>
              <a:avLst/>
              <a:gdLst/>
              <a:ahLst/>
              <a:cxnLst/>
              <a:rect r="r" b="b" t="t" l="l"/>
              <a:pathLst>
                <a:path h="340625" w="2057312">
                  <a:moveTo>
                    <a:pt x="50547" y="0"/>
                  </a:moveTo>
                  <a:lnTo>
                    <a:pt x="2006766" y="0"/>
                  </a:lnTo>
                  <a:cubicBezTo>
                    <a:pt x="2020172" y="0"/>
                    <a:pt x="2033028" y="5325"/>
                    <a:pt x="2042508" y="14805"/>
                  </a:cubicBezTo>
                  <a:cubicBezTo>
                    <a:pt x="2051987" y="24284"/>
                    <a:pt x="2057312" y="37141"/>
                    <a:pt x="2057312" y="50547"/>
                  </a:cubicBezTo>
                  <a:lnTo>
                    <a:pt x="2057312" y="290079"/>
                  </a:lnTo>
                  <a:cubicBezTo>
                    <a:pt x="2057312" y="317995"/>
                    <a:pt x="2034682" y="340625"/>
                    <a:pt x="2006766" y="340625"/>
                  </a:cubicBezTo>
                  <a:lnTo>
                    <a:pt x="50547" y="340625"/>
                  </a:lnTo>
                  <a:cubicBezTo>
                    <a:pt x="22631" y="340625"/>
                    <a:pt x="0" y="317995"/>
                    <a:pt x="0" y="290079"/>
                  </a:cubicBezTo>
                  <a:lnTo>
                    <a:pt x="0" y="50547"/>
                  </a:lnTo>
                  <a:cubicBezTo>
                    <a:pt x="0" y="22631"/>
                    <a:pt x="22631" y="0"/>
                    <a:pt x="50547" y="0"/>
                  </a:cubicBezTo>
                  <a:close/>
                </a:path>
              </a:pathLst>
            </a:custGeom>
            <a:solidFill>
              <a:srgbClr val="09691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57312" cy="37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700389" y="3234136"/>
            <a:ext cx="646656" cy="646656"/>
          </a:xfrm>
          <a:custGeom>
            <a:avLst/>
            <a:gdLst/>
            <a:ahLst/>
            <a:cxnLst/>
            <a:rect r="r" b="b" t="t" l="l"/>
            <a:pathLst>
              <a:path h="646656" w="646656">
                <a:moveTo>
                  <a:pt x="0" y="0"/>
                </a:moveTo>
                <a:lnTo>
                  <a:pt x="646656" y="0"/>
                </a:lnTo>
                <a:lnTo>
                  <a:pt x="646656" y="646655"/>
                </a:lnTo>
                <a:lnTo>
                  <a:pt x="0" y="646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865092" y="3224841"/>
            <a:ext cx="646656" cy="646656"/>
          </a:xfrm>
          <a:custGeom>
            <a:avLst/>
            <a:gdLst/>
            <a:ahLst/>
            <a:cxnLst/>
            <a:rect r="r" b="b" t="t" l="l"/>
            <a:pathLst>
              <a:path h="646656" w="646656">
                <a:moveTo>
                  <a:pt x="0" y="0"/>
                </a:moveTo>
                <a:lnTo>
                  <a:pt x="646656" y="0"/>
                </a:lnTo>
                <a:lnTo>
                  <a:pt x="646656" y="646656"/>
                </a:lnTo>
                <a:lnTo>
                  <a:pt x="0" y="646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781916" y="2882002"/>
            <a:ext cx="7729831" cy="65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7"/>
              </a:lnSpc>
            </a:pPr>
            <a:r>
              <a:rPr lang="en-US" sz="359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</a:t>
            </a: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Cancellation Reasons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23717" y="4104147"/>
            <a:ext cx="7164703" cy="393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4648" indent="-342324" lvl="1">
              <a:lnSpc>
                <a:spcPts val="4439"/>
              </a:lnSpc>
              <a:buAutoNum type="arabicPeriod" startAt="1"/>
            </a:pPr>
            <a:r>
              <a:rPr lang="en-US" b="true" sz="317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 is not working</a:t>
            </a:r>
          </a:p>
          <a:p>
            <a:pPr algn="just" marL="684648" indent="-342324" lvl="1">
              <a:lnSpc>
                <a:spcPts val="4439"/>
              </a:lnSpc>
              <a:buAutoNum type="arabicPeriod" startAt="1"/>
            </a:pPr>
            <a:r>
              <a:rPr lang="en-US" b="true" sz="317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Driver is not moving towards pickup location</a:t>
            </a:r>
          </a:p>
          <a:p>
            <a:pPr algn="just" marL="684648" indent="-342324" lvl="1">
              <a:lnSpc>
                <a:spcPts val="4439"/>
              </a:lnSpc>
              <a:buAutoNum type="arabicPeriod" startAt="1"/>
            </a:pPr>
            <a:r>
              <a:rPr lang="en-US" b="true" sz="317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Driver asked customer to cancel</a:t>
            </a:r>
          </a:p>
          <a:p>
            <a:pPr algn="just" marL="684648" indent="-342324" lvl="1">
              <a:lnSpc>
                <a:spcPts val="4439"/>
              </a:lnSpc>
              <a:buAutoNum type="arabicPeriod" startAt="1"/>
            </a:pPr>
            <a:r>
              <a:rPr lang="en-US" sz="31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Change of plans</a:t>
            </a:r>
          </a:p>
          <a:p>
            <a:pPr algn="just" marL="684648" indent="-342324" lvl="1">
              <a:lnSpc>
                <a:spcPts val="4439"/>
              </a:lnSpc>
              <a:buAutoNum type="arabicPeriod" startAt="1"/>
            </a:pPr>
            <a:r>
              <a:rPr lang="en-US" sz="31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Wrong pickup address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8700" y="6611720"/>
            <a:ext cx="7811358" cy="3315974"/>
            <a:chOff x="0" y="0"/>
            <a:chExt cx="2057312" cy="8733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57312" cy="873343"/>
            </a:xfrm>
            <a:custGeom>
              <a:avLst/>
              <a:gdLst/>
              <a:ahLst/>
              <a:cxnLst/>
              <a:rect r="r" b="b" t="t" l="l"/>
              <a:pathLst>
                <a:path h="873343" w="2057312">
                  <a:moveTo>
                    <a:pt x="50547" y="0"/>
                  </a:moveTo>
                  <a:lnTo>
                    <a:pt x="2006766" y="0"/>
                  </a:lnTo>
                  <a:cubicBezTo>
                    <a:pt x="2020172" y="0"/>
                    <a:pt x="2033028" y="5325"/>
                    <a:pt x="2042508" y="14805"/>
                  </a:cubicBezTo>
                  <a:cubicBezTo>
                    <a:pt x="2051987" y="24284"/>
                    <a:pt x="2057312" y="37141"/>
                    <a:pt x="2057312" y="50547"/>
                  </a:cubicBezTo>
                  <a:lnTo>
                    <a:pt x="2057312" y="822796"/>
                  </a:lnTo>
                  <a:cubicBezTo>
                    <a:pt x="2057312" y="850713"/>
                    <a:pt x="2034682" y="873343"/>
                    <a:pt x="2006766" y="873343"/>
                  </a:cubicBezTo>
                  <a:lnTo>
                    <a:pt x="50547" y="873343"/>
                  </a:lnTo>
                  <a:cubicBezTo>
                    <a:pt x="22631" y="873343"/>
                    <a:pt x="0" y="850713"/>
                    <a:pt x="0" y="822796"/>
                  </a:cubicBezTo>
                  <a:lnTo>
                    <a:pt x="0" y="50547"/>
                  </a:lnTo>
                  <a:cubicBezTo>
                    <a:pt x="0" y="22631"/>
                    <a:pt x="22631" y="0"/>
                    <a:pt x="505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057312" cy="911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6611720"/>
            <a:ext cx="7811358" cy="1293311"/>
            <a:chOff x="0" y="0"/>
            <a:chExt cx="2057312" cy="3406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57312" cy="340625"/>
            </a:xfrm>
            <a:custGeom>
              <a:avLst/>
              <a:gdLst/>
              <a:ahLst/>
              <a:cxnLst/>
              <a:rect r="r" b="b" t="t" l="l"/>
              <a:pathLst>
                <a:path h="340625" w="2057312">
                  <a:moveTo>
                    <a:pt x="50547" y="0"/>
                  </a:moveTo>
                  <a:lnTo>
                    <a:pt x="2006766" y="0"/>
                  </a:lnTo>
                  <a:cubicBezTo>
                    <a:pt x="2020172" y="0"/>
                    <a:pt x="2033028" y="5325"/>
                    <a:pt x="2042508" y="14805"/>
                  </a:cubicBezTo>
                  <a:cubicBezTo>
                    <a:pt x="2051987" y="24284"/>
                    <a:pt x="2057312" y="37141"/>
                    <a:pt x="2057312" y="50547"/>
                  </a:cubicBezTo>
                  <a:lnTo>
                    <a:pt x="2057312" y="290079"/>
                  </a:lnTo>
                  <a:cubicBezTo>
                    <a:pt x="2057312" y="317995"/>
                    <a:pt x="2034682" y="340625"/>
                    <a:pt x="2006766" y="340625"/>
                  </a:cubicBezTo>
                  <a:lnTo>
                    <a:pt x="50547" y="340625"/>
                  </a:lnTo>
                  <a:cubicBezTo>
                    <a:pt x="22631" y="340625"/>
                    <a:pt x="0" y="317995"/>
                    <a:pt x="0" y="290079"/>
                  </a:cubicBezTo>
                  <a:lnTo>
                    <a:pt x="0" y="50547"/>
                  </a:lnTo>
                  <a:cubicBezTo>
                    <a:pt x="0" y="22631"/>
                    <a:pt x="22631" y="0"/>
                    <a:pt x="50547" y="0"/>
                  </a:cubicBezTo>
                  <a:close/>
                </a:path>
              </a:pathLst>
            </a:custGeom>
            <a:solidFill>
              <a:srgbClr val="F1CF5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57312" cy="37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28700" y="7258376"/>
            <a:ext cx="646656" cy="646656"/>
          </a:xfrm>
          <a:custGeom>
            <a:avLst/>
            <a:gdLst/>
            <a:ahLst/>
            <a:cxnLst/>
            <a:rect r="r" b="b" t="t" l="l"/>
            <a:pathLst>
              <a:path h="646656" w="646656">
                <a:moveTo>
                  <a:pt x="0" y="0"/>
                </a:moveTo>
                <a:lnTo>
                  <a:pt x="646656" y="0"/>
                </a:lnTo>
                <a:lnTo>
                  <a:pt x="646656" y="646655"/>
                </a:lnTo>
                <a:lnTo>
                  <a:pt x="0" y="6466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193403" y="7249081"/>
            <a:ext cx="646656" cy="646656"/>
          </a:xfrm>
          <a:custGeom>
            <a:avLst/>
            <a:gdLst/>
            <a:ahLst/>
            <a:cxnLst/>
            <a:rect r="r" b="b" t="t" l="l"/>
            <a:pathLst>
              <a:path h="646656" w="646656">
                <a:moveTo>
                  <a:pt x="0" y="0"/>
                </a:moveTo>
                <a:lnTo>
                  <a:pt x="646655" y="0"/>
                </a:lnTo>
                <a:lnTo>
                  <a:pt x="646655" y="646656"/>
                </a:lnTo>
                <a:lnTo>
                  <a:pt x="0" y="646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10227" y="6906242"/>
            <a:ext cx="7729831" cy="65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7"/>
              </a:lnSpc>
            </a:pPr>
            <a:r>
              <a:rPr lang="en-US" sz="359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Incomplete Rides</a:t>
            </a:r>
            <a:r>
              <a:rPr lang="en-US" b="true" sz="3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Reasons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10227" y="7962181"/>
            <a:ext cx="8099784" cy="181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8397" indent="-369199" lvl="1">
              <a:lnSpc>
                <a:spcPts val="4788"/>
              </a:lnSpc>
              <a:buAutoNum type="arabicPeriod" startAt="1"/>
            </a:pPr>
            <a:r>
              <a:rPr lang="en-US" sz="342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Customer demand</a:t>
            </a:r>
          </a:p>
          <a:p>
            <a:pPr algn="just" marL="738397" indent="-369199" lvl="1">
              <a:lnSpc>
                <a:spcPts val="4788"/>
              </a:lnSpc>
              <a:buAutoNum type="arabicPeriod" startAt="1"/>
            </a:pPr>
            <a:r>
              <a:rPr lang="en-US" b="true" sz="34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Vehicle breakdown</a:t>
            </a:r>
          </a:p>
          <a:p>
            <a:pPr algn="just" marL="738397" indent="-369199" lvl="1">
              <a:lnSpc>
                <a:spcPts val="4788"/>
              </a:lnSpc>
              <a:buAutoNum type="arabicPeriod" startAt="1"/>
            </a:pPr>
            <a:r>
              <a:rPr lang="en-US" sz="342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Other issue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24189" y="8657199"/>
            <a:ext cx="8255081" cy="93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35"/>
              </a:lnSpc>
            </a:pPr>
            <a:r>
              <a:rPr lang="en-US" sz="2668" b="true">
                <a:solidFill>
                  <a:srgbClr val="595656"/>
                </a:solidFill>
                <a:latin typeface="Poppins Bold"/>
                <a:ea typeface="Poppins Bold"/>
                <a:cs typeface="Poppins Bold"/>
                <a:sym typeface="Poppins Bold"/>
              </a:rPr>
              <a:t>Operational and supply-side issues appear repeatedly across multiple failure categories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0302" y="4577701"/>
            <a:ext cx="6744615" cy="3739793"/>
          </a:xfrm>
          <a:custGeom>
            <a:avLst/>
            <a:gdLst/>
            <a:ahLst/>
            <a:cxnLst/>
            <a:rect r="r" b="b" t="t" l="l"/>
            <a:pathLst>
              <a:path h="3739793" w="6744615">
                <a:moveTo>
                  <a:pt x="0" y="0"/>
                </a:moveTo>
                <a:lnTo>
                  <a:pt x="6744614" y="0"/>
                </a:lnTo>
                <a:lnTo>
                  <a:pt x="6744614" y="3739792"/>
                </a:lnTo>
                <a:lnTo>
                  <a:pt x="0" y="3739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578" t="-51852" r="-26257" b="-8642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169187" y="3057793"/>
            <a:ext cx="4116755" cy="8145708"/>
            <a:chOff x="0" y="0"/>
            <a:chExt cx="2620010" cy="51841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189518" t="0" r="-85342" b="-4838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324678" y="8015035"/>
            <a:ext cx="1976760" cy="2013367"/>
          </a:xfrm>
          <a:custGeom>
            <a:avLst/>
            <a:gdLst/>
            <a:ahLst/>
            <a:cxnLst/>
            <a:rect r="r" b="b" t="t" l="l"/>
            <a:pathLst>
              <a:path h="2013367" w="1976760">
                <a:moveTo>
                  <a:pt x="0" y="0"/>
                </a:moveTo>
                <a:lnTo>
                  <a:pt x="1976760" y="0"/>
                </a:lnTo>
                <a:lnTo>
                  <a:pt x="1976760" y="2013367"/>
                </a:lnTo>
                <a:lnTo>
                  <a:pt x="0" y="2013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64552" y="282462"/>
            <a:ext cx="17490919" cy="148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05"/>
              </a:lnSpc>
            </a:pPr>
            <a:r>
              <a:rPr lang="en-US" sz="828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Are Failed Bookings Recovered?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8849" y="1853750"/>
            <a:ext cx="13759734" cy="61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2"/>
              </a:lnSpc>
            </a:pPr>
            <a:r>
              <a:rPr lang="en-US" sz="345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 customers immediately rebook after a failed ride?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71344" y="3146776"/>
            <a:ext cx="9394253" cy="4818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3081" indent="-366540" lvl="1">
              <a:lnSpc>
                <a:spcPts val="4753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Same-day retry behaviour is extremely rare. </a:t>
            </a:r>
          </a:p>
          <a:p>
            <a:pPr algn="just" marL="733081" indent="-366540" lvl="1">
              <a:lnSpc>
                <a:spcPts val="4753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Most failed bookings are not immediately recovered</a:t>
            </a:r>
          </a:p>
          <a:p>
            <a:pPr algn="just" marL="733081" indent="-366540" lvl="1">
              <a:lnSpc>
                <a:spcPts val="4753"/>
              </a:lnSpc>
              <a:buFont typeface="Arial"/>
              <a:buChar char="•"/>
            </a:pPr>
            <a:r>
              <a:rPr lang="en-US" b="true" sz="33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E.g. of the 1,725 customers who experienced multiple unsuccessful bookings, only 19 attempted another booking on the same day.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53788" y="8735238"/>
            <a:ext cx="10611809" cy="103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78"/>
              </a:lnSpc>
            </a:pPr>
            <a:r>
              <a:rPr lang="en-US" sz="3429" b="true">
                <a:solidFill>
                  <a:srgbClr val="595656"/>
                </a:solidFill>
                <a:latin typeface="Poppins Bold"/>
                <a:ea typeface="Poppins Bold"/>
                <a:cs typeface="Poppins Bold"/>
                <a:sym typeface="Poppins Bold"/>
              </a:rPr>
              <a:t>Unsuccessful bookings often translate into lost booking opportunities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22444" y="2106768"/>
            <a:ext cx="5532301" cy="5532301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>
            <a:off x="5204832" y="5205035"/>
            <a:ext cx="1878637" cy="0"/>
          </a:xfrm>
          <a:prstGeom prst="line">
            <a:avLst/>
          </a:prstGeom>
          <a:ln cap="flat" w="38100">
            <a:solidFill>
              <a:srgbClr val="00BF15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54401" y="2368597"/>
            <a:ext cx="1878637" cy="0"/>
          </a:xfrm>
          <a:prstGeom prst="line">
            <a:avLst/>
          </a:prstGeom>
          <a:ln cap="flat" w="38100">
            <a:solidFill>
              <a:srgbClr val="09691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" id="5"/>
          <p:cNvSpPr/>
          <p:nvPr/>
        </p:nvSpPr>
        <p:spPr>
          <a:xfrm>
            <a:off x="8919727" y="2368597"/>
            <a:ext cx="1878637" cy="0"/>
          </a:xfrm>
          <a:prstGeom prst="line">
            <a:avLst/>
          </a:prstGeom>
          <a:ln cap="flat" w="38100">
            <a:solidFill>
              <a:srgbClr val="0969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8938094" y="2386964"/>
            <a:ext cx="0" cy="400802"/>
          </a:xfrm>
          <a:prstGeom prst="line">
            <a:avLst/>
          </a:prstGeom>
          <a:ln cap="flat" w="38100">
            <a:solidFill>
              <a:srgbClr val="09691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077152" y="7811171"/>
            <a:ext cx="14381347" cy="2080029"/>
            <a:chOff x="0" y="0"/>
            <a:chExt cx="19175129" cy="277337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9175129" cy="2773372"/>
              <a:chOff x="0" y="0"/>
              <a:chExt cx="3618934" cy="52342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618934" cy="523420"/>
              </a:xfrm>
              <a:custGeom>
                <a:avLst/>
                <a:gdLst/>
                <a:ahLst/>
                <a:cxnLst/>
                <a:rect r="r" b="b" t="t" l="l"/>
                <a:pathLst>
                  <a:path h="523420" w="3618934">
                    <a:moveTo>
                      <a:pt x="27455" y="0"/>
                    </a:moveTo>
                    <a:lnTo>
                      <a:pt x="3591479" y="0"/>
                    </a:lnTo>
                    <a:cubicBezTo>
                      <a:pt x="3606642" y="0"/>
                      <a:pt x="3618934" y="12292"/>
                      <a:pt x="3618934" y="27455"/>
                    </a:cubicBezTo>
                    <a:lnTo>
                      <a:pt x="3618934" y="495965"/>
                    </a:lnTo>
                    <a:cubicBezTo>
                      <a:pt x="3618934" y="511128"/>
                      <a:pt x="3606642" y="523420"/>
                      <a:pt x="3591479" y="523420"/>
                    </a:cubicBezTo>
                    <a:lnTo>
                      <a:pt x="27455" y="523420"/>
                    </a:lnTo>
                    <a:cubicBezTo>
                      <a:pt x="12292" y="523420"/>
                      <a:pt x="0" y="511128"/>
                      <a:pt x="0" y="495965"/>
                    </a:cubicBezTo>
                    <a:lnTo>
                      <a:pt x="0" y="27455"/>
                    </a:lnTo>
                    <a:cubicBezTo>
                      <a:pt x="0" y="12292"/>
                      <a:pt x="12292" y="0"/>
                      <a:pt x="27455" y="0"/>
                    </a:cubicBez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618934" cy="561520"/>
              </a:xfrm>
              <a:prstGeom prst="rect">
                <a:avLst/>
              </a:prstGeom>
            </p:spPr>
            <p:txBody>
              <a:bodyPr anchor="ctr" rtlCol="false" tIns="53169" lIns="53169" bIns="53169" rIns="53169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1" id="11"/>
            <p:cNvSpPr/>
            <p:nvPr/>
          </p:nvSpPr>
          <p:spPr>
            <a:xfrm flipV="true">
              <a:off x="6421091" y="305316"/>
              <a:ext cx="0" cy="2255381"/>
            </a:xfrm>
            <a:prstGeom prst="line">
              <a:avLst/>
            </a:prstGeom>
            <a:ln cap="flat" w="50800">
              <a:solidFill>
                <a:srgbClr val="59565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 flipV="true">
              <a:off x="12829601" y="305316"/>
              <a:ext cx="0" cy="2255381"/>
            </a:xfrm>
            <a:prstGeom prst="line">
              <a:avLst/>
            </a:prstGeom>
            <a:ln cap="flat" w="50800">
              <a:solidFill>
                <a:srgbClr val="59565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67711" y="637552"/>
              <a:ext cx="1743732" cy="1559848"/>
            </a:xfrm>
            <a:custGeom>
              <a:avLst/>
              <a:gdLst/>
              <a:ahLst/>
              <a:cxnLst/>
              <a:rect r="r" b="b" t="t" l="l"/>
              <a:pathLst>
                <a:path h="1559848" w="1743732">
                  <a:moveTo>
                    <a:pt x="0" y="0"/>
                  </a:moveTo>
                  <a:lnTo>
                    <a:pt x="1743732" y="0"/>
                  </a:lnTo>
                  <a:lnTo>
                    <a:pt x="1743732" y="1559847"/>
                  </a:lnTo>
                  <a:lnTo>
                    <a:pt x="0" y="1559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801933" y="884097"/>
              <a:ext cx="1508675" cy="1344092"/>
            </a:xfrm>
            <a:custGeom>
              <a:avLst/>
              <a:gdLst/>
              <a:ahLst/>
              <a:cxnLst/>
              <a:rect r="r" b="b" t="t" l="l"/>
              <a:pathLst>
                <a:path h="1344092" w="1508675">
                  <a:moveTo>
                    <a:pt x="0" y="0"/>
                  </a:moveTo>
                  <a:lnTo>
                    <a:pt x="1508674" y="0"/>
                  </a:lnTo>
                  <a:lnTo>
                    <a:pt x="1508674" y="1344092"/>
                  </a:lnTo>
                  <a:lnTo>
                    <a:pt x="0" y="1344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184841" y="520018"/>
              <a:ext cx="1683957" cy="1794915"/>
            </a:xfrm>
            <a:custGeom>
              <a:avLst/>
              <a:gdLst/>
              <a:ahLst/>
              <a:cxnLst/>
              <a:rect r="r" b="b" t="t" l="l"/>
              <a:pathLst>
                <a:path h="1794915" w="1683957">
                  <a:moveTo>
                    <a:pt x="0" y="0"/>
                  </a:moveTo>
                  <a:lnTo>
                    <a:pt x="1683957" y="0"/>
                  </a:lnTo>
                  <a:lnTo>
                    <a:pt x="1683957" y="1794915"/>
                  </a:lnTo>
                  <a:lnTo>
                    <a:pt x="0" y="1794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192248" y="247870"/>
              <a:ext cx="3887231" cy="21538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3"/>
                </a:lnSpc>
              </a:pPr>
              <a:r>
                <a:rPr lang="en-US" sz="4574" b="true">
                  <a:solidFill>
                    <a:srgbClr val="8DC2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3,653</a:t>
              </a:r>
            </a:p>
            <a:p>
              <a:pPr algn="l">
                <a:lnSpc>
                  <a:spcPts val="3212"/>
                </a:lnSpc>
              </a:pPr>
              <a:r>
                <a:rPr lang="en-US" sz="229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Only Successful</a:t>
              </a:r>
            </a:p>
            <a:p>
              <a:pPr algn="l">
                <a:lnSpc>
                  <a:spcPts val="3212"/>
                </a:lnSpc>
              </a:pPr>
              <a:r>
                <a:rPr lang="en-US" sz="229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Bookings (45.9%)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8726470" y="278659"/>
              <a:ext cx="3887231" cy="21538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3"/>
                </a:lnSpc>
              </a:pPr>
              <a:r>
                <a:rPr lang="en-US" sz="4574" b="true">
                  <a:solidFill>
                    <a:srgbClr val="FF3D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1,725</a:t>
              </a:r>
            </a:p>
            <a:p>
              <a:pPr algn="l">
                <a:lnSpc>
                  <a:spcPts val="3212"/>
                </a:lnSpc>
              </a:pPr>
              <a:r>
                <a:rPr lang="en-US" sz="229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Only Unsuccessful</a:t>
              </a:r>
            </a:p>
            <a:p>
              <a:pPr algn="l">
                <a:lnSpc>
                  <a:spcPts val="3212"/>
                </a:lnSpc>
              </a:pPr>
              <a:r>
                <a:rPr lang="en-US" sz="229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Bookings (21.7%)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5287898" y="247870"/>
              <a:ext cx="3887231" cy="21538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3"/>
                </a:lnSpc>
              </a:pPr>
              <a:r>
                <a:rPr lang="en-US" sz="4574" b="true">
                  <a:solidFill>
                    <a:srgbClr val="59565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2,576</a:t>
              </a:r>
            </a:p>
            <a:p>
              <a:pPr algn="l">
                <a:lnSpc>
                  <a:spcPts val="3212"/>
                </a:lnSpc>
              </a:pPr>
              <a:r>
                <a:rPr lang="en-US" sz="229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Mixed Outcomes</a:t>
              </a:r>
            </a:p>
            <a:p>
              <a:pPr algn="l">
                <a:lnSpc>
                  <a:spcPts val="3212"/>
                </a:lnSpc>
              </a:pPr>
              <a:r>
                <a:rPr lang="en-US" sz="229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(32.4%)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1366488">
            <a:off x="7010973" y="8240488"/>
            <a:ext cx="1601314" cy="1414980"/>
          </a:xfrm>
          <a:custGeom>
            <a:avLst/>
            <a:gdLst/>
            <a:ahLst/>
            <a:cxnLst/>
            <a:rect r="r" b="b" t="t" l="l"/>
            <a:pathLst>
              <a:path h="1414980" w="1601314">
                <a:moveTo>
                  <a:pt x="0" y="0"/>
                </a:moveTo>
                <a:lnTo>
                  <a:pt x="1601314" y="0"/>
                </a:lnTo>
                <a:lnTo>
                  <a:pt x="1601314" y="1414980"/>
                </a:lnTo>
                <a:lnTo>
                  <a:pt x="0" y="14149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43134" y="-37587"/>
            <a:ext cx="17490919" cy="148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05"/>
              </a:lnSpc>
            </a:pPr>
            <a:r>
              <a:rPr lang="en-US" sz="828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Repeat Customer Behaviour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3134" y="1652763"/>
            <a:ext cx="6989556" cy="595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7"/>
              </a:lnSpc>
            </a:pPr>
            <a:r>
              <a:rPr lang="en-US" sz="33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Among 94,544 customers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90897" y="3725188"/>
            <a:ext cx="4022923" cy="277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4"/>
              </a:lnSpc>
            </a:pPr>
            <a:r>
              <a:rPr lang="en-US" b="true" sz="6146">
                <a:solidFill>
                  <a:srgbClr val="00BF15"/>
                </a:solidFill>
                <a:latin typeface="Poppins Bold"/>
                <a:ea typeface="Poppins Bold"/>
                <a:cs typeface="Poppins Bold"/>
                <a:sym typeface="Poppins Bold"/>
              </a:rPr>
              <a:t>86,590</a:t>
            </a:r>
          </a:p>
          <a:p>
            <a:pPr algn="ctr">
              <a:lnSpc>
                <a:spcPts val="4302"/>
              </a:lnSpc>
            </a:pPr>
            <a:r>
              <a:rPr lang="en-US" b="true" sz="3073">
                <a:solidFill>
                  <a:srgbClr val="00BF15"/>
                </a:solidFill>
                <a:latin typeface="Poppins Bold"/>
                <a:ea typeface="Poppins Bold"/>
                <a:cs typeface="Poppins Bold"/>
                <a:sym typeface="Poppins Bold"/>
              </a:rPr>
              <a:t>One-time </a:t>
            </a:r>
          </a:p>
          <a:p>
            <a:pPr algn="ctr">
              <a:lnSpc>
                <a:spcPts val="4302"/>
              </a:lnSpc>
            </a:pPr>
            <a:r>
              <a:rPr lang="en-US" b="true" sz="3073">
                <a:solidFill>
                  <a:srgbClr val="00BF15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Customers</a:t>
            </a:r>
          </a:p>
          <a:p>
            <a:pPr algn="ctr">
              <a:lnSpc>
                <a:spcPts val="4302"/>
              </a:lnSpc>
            </a:pPr>
            <a:r>
              <a:rPr lang="en-US" b="true" sz="3073">
                <a:solidFill>
                  <a:srgbClr val="00BF15"/>
                </a:solidFill>
                <a:latin typeface="Poppins Bold"/>
                <a:ea typeface="Poppins Bold"/>
                <a:cs typeface="Poppins Bold"/>
                <a:sym typeface="Poppins Bold"/>
              </a:rPr>
              <a:t>(91.6%)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33038" y="1495600"/>
            <a:ext cx="4022923" cy="2772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4"/>
              </a:lnSpc>
            </a:pPr>
            <a:r>
              <a:rPr lang="en-US" sz="6146" b="true">
                <a:solidFill>
                  <a:srgbClr val="096914"/>
                </a:solidFill>
                <a:latin typeface="Poppins Bold"/>
                <a:ea typeface="Poppins Bold"/>
                <a:cs typeface="Poppins Bold"/>
                <a:sym typeface="Poppins Bold"/>
              </a:rPr>
              <a:t>7,954</a:t>
            </a:r>
          </a:p>
          <a:p>
            <a:pPr algn="ctr">
              <a:lnSpc>
                <a:spcPts val="4302"/>
              </a:lnSpc>
            </a:pPr>
            <a:r>
              <a:rPr lang="en-US" sz="3073" b="true">
                <a:solidFill>
                  <a:srgbClr val="096914"/>
                </a:solidFill>
                <a:latin typeface="Poppins Bold"/>
                <a:ea typeface="Poppins Bold"/>
                <a:cs typeface="Poppins Bold"/>
                <a:sym typeface="Poppins Bold"/>
              </a:rPr>
              <a:t>Repeat</a:t>
            </a:r>
            <a:r>
              <a:rPr lang="en-US" sz="3073" b="true">
                <a:solidFill>
                  <a:srgbClr val="09691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>
              <a:lnSpc>
                <a:spcPts val="4302"/>
              </a:lnSpc>
            </a:pPr>
            <a:r>
              <a:rPr lang="en-US" sz="3073" b="true">
                <a:solidFill>
                  <a:srgbClr val="096914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Customers</a:t>
            </a:r>
          </a:p>
          <a:p>
            <a:pPr algn="ctr">
              <a:lnSpc>
                <a:spcPts val="4302"/>
              </a:lnSpc>
            </a:pPr>
            <a:r>
              <a:rPr lang="en-US" sz="3073" b="true">
                <a:solidFill>
                  <a:srgbClr val="096914"/>
                </a:solidFill>
                <a:latin typeface="Poppins Bold"/>
                <a:ea typeface="Poppins Bold"/>
                <a:cs typeface="Poppins Bold"/>
                <a:sym typeface="Poppins Bold"/>
              </a:rPr>
              <a:t>(8.4%)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77152" y="7325681"/>
            <a:ext cx="14381347" cy="64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5"/>
              </a:lnSpc>
            </a:pPr>
            <a:r>
              <a:rPr lang="en-US" sz="363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Among Repeat Customers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65344" y="4720518"/>
            <a:ext cx="4416020" cy="243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4"/>
              </a:lnSpc>
            </a:pPr>
            <a:r>
              <a:rPr lang="en-US" sz="2745" b="true">
                <a:solidFill>
                  <a:srgbClr val="595656"/>
                </a:solidFill>
                <a:latin typeface="Poppins Bold"/>
                <a:ea typeface="Poppins Bold"/>
                <a:cs typeface="Poppins Bold"/>
                <a:sym typeface="Poppins Bold"/>
              </a:rPr>
              <a:t>At least </a:t>
            </a:r>
            <a:r>
              <a:rPr lang="en-US" sz="2745" b="true">
                <a:solidFill>
                  <a:srgbClr val="C4360A"/>
                </a:solidFill>
                <a:latin typeface="Poppins Bold"/>
                <a:ea typeface="Poppins Bold"/>
                <a:cs typeface="Poppins Bold"/>
                <a:sym typeface="Poppins Bold"/>
              </a:rPr>
              <a:t>1,725</a:t>
            </a:r>
            <a:r>
              <a:rPr lang="en-US" sz="2745" b="true">
                <a:solidFill>
                  <a:srgbClr val="595656"/>
                </a:solidFill>
                <a:latin typeface="Poppins Bold"/>
                <a:ea typeface="Poppins Bold"/>
                <a:cs typeface="Poppins Bold"/>
                <a:sym typeface="Poppins Bold"/>
              </a:rPr>
              <a:t> customers repeatedly experienced unsuccessful bookings, which an evidence of consistent unmet demand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99808" y="1984406"/>
            <a:ext cx="6759492" cy="7273894"/>
          </a:xfrm>
          <a:custGeom>
            <a:avLst/>
            <a:gdLst/>
            <a:ahLst/>
            <a:cxnLst/>
            <a:rect r="r" b="b" t="t" l="l"/>
            <a:pathLst>
              <a:path h="7273894" w="6759492">
                <a:moveTo>
                  <a:pt x="0" y="0"/>
                </a:moveTo>
                <a:lnTo>
                  <a:pt x="6759492" y="0"/>
                </a:lnTo>
                <a:lnTo>
                  <a:pt x="6759492" y="7273894"/>
                </a:lnTo>
                <a:lnTo>
                  <a:pt x="0" y="72738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306" t="-376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1323" y="185473"/>
            <a:ext cx="17105354" cy="145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9"/>
              </a:lnSpc>
            </a:pPr>
            <a:r>
              <a:rPr lang="en-US" sz="810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Are Customers Simply Retrying?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1323" y="2446611"/>
            <a:ext cx="9062144" cy="5289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03355" indent="-401677" lvl="1">
              <a:lnSpc>
                <a:spcPts val="5209"/>
              </a:lnSpc>
              <a:buFont typeface="Arial"/>
              <a:buChar char="•"/>
            </a:pPr>
            <a:r>
              <a:rPr lang="en-US" b="true" sz="37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Most unsuccessful customers return on different days. </a:t>
            </a:r>
          </a:p>
          <a:p>
            <a:pPr algn="just" marL="803355" indent="-401677" lvl="1">
              <a:lnSpc>
                <a:spcPts val="5209"/>
              </a:lnSpc>
              <a:buFont typeface="Arial"/>
              <a:buChar char="•"/>
            </a:pPr>
            <a:r>
              <a:rPr lang="en-US" b="true" sz="37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E.g. of the 1,725 customers who experienced multiple unsuccessful bookings, 1,071 customers repeatedly booked similar routes at similar times on different days.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1323" y="8307591"/>
            <a:ext cx="9373678" cy="123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8"/>
              </a:lnSpc>
            </a:pPr>
            <a:r>
              <a:rPr lang="en-US" sz="4084" b="true">
                <a:solidFill>
                  <a:srgbClr val="595656"/>
                </a:solidFill>
                <a:latin typeface="Poppins Bold"/>
                <a:ea typeface="Poppins Bold"/>
                <a:cs typeface="Poppins Bold"/>
                <a:sym typeface="Poppins Bold"/>
              </a:rPr>
              <a:t>The findings suggest the presence of persistent unmet demand.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8473" y="2321696"/>
            <a:ext cx="7471753" cy="6264158"/>
          </a:xfrm>
          <a:custGeom>
            <a:avLst/>
            <a:gdLst/>
            <a:ahLst/>
            <a:cxnLst/>
            <a:rect r="r" b="b" t="t" l="l"/>
            <a:pathLst>
              <a:path h="6264158" w="7471753">
                <a:moveTo>
                  <a:pt x="0" y="0"/>
                </a:moveTo>
                <a:lnTo>
                  <a:pt x="7471753" y="0"/>
                </a:lnTo>
                <a:lnTo>
                  <a:pt x="7471753" y="6264157"/>
                </a:lnTo>
                <a:lnTo>
                  <a:pt x="0" y="6264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3" t="-608" r="-6109" b="-4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38138" y="4488912"/>
            <a:ext cx="8219870" cy="3526473"/>
          </a:xfrm>
          <a:custGeom>
            <a:avLst/>
            <a:gdLst/>
            <a:ahLst/>
            <a:cxnLst/>
            <a:rect r="r" b="b" t="t" l="l"/>
            <a:pathLst>
              <a:path h="3526473" w="8219870">
                <a:moveTo>
                  <a:pt x="0" y="0"/>
                </a:moveTo>
                <a:lnTo>
                  <a:pt x="8219870" y="0"/>
                </a:lnTo>
                <a:lnTo>
                  <a:pt x="8219870" y="3526474"/>
                </a:lnTo>
                <a:lnTo>
                  <a:pt x="0" y="3526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77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7271">
            <a:off x="9728729" y="7152326"/>
            <a:ext cx="1672586" cy="811965"/>
          </a:xfrm>
          <a:custGeom>
            <a:avLst/>
            <a:gdLst/>
            <a:ahLst/>
            <a:cxnLst/>
            <a:rect r="r" b="b" t="t" l="l"/>
            <a:pathLst>
              <a:path h="811965" w="1672586">
                <a:moveTo>
                  <a:pt x="0" y="0"/>
                </a:moveTo>
                <a:lnTo>
                  <a:pt x="1672586" y="0"/>
                </a:lnTo>
                <a:lnTo>
                  <a:pt x="1672586" y="811965"/>
                </a:lnTo>
                <a:lnTo>
                  <a:pt x="0" y="811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1323" y="185473"/>
            <a:ext cx="17105354" cy="145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9"/>
              </a:lnSpc>
            </a:pPr>
            <a:r>
              <a:rPr lang="en-US" sz="810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Route-Level Evidence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8473" y="1557602"/>
            <a:ext cx="6332416" cy="54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 outcomes vary by location?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9209" y="4005458"/>
            <a:ext cx="2155912" cy="36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Pickup Location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28748" y="4005458"/>
            <a:ext cx="2155912" cy="36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20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Drop Location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09518" y="4005458"/>
            <a:ext cx="2155912" cy="36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Failure Rate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540765" y="4004253"/>
            <a:ext cx="2155912" cy="36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20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 Bookings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15551" y="3151596"/>
            <a:ext cx="7803170" cy="63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1"/>
              </a:lnSpc>
            </a:pPr>
            <a:r>
              <a:rPr lang="en-US" sz="355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 10 Failure Rate by Routes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8473" y="8785526"/>
            <a:ext cx="7102038" cy="112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3"/>
              </a:lnSpc>
            </a:pPr>
            <a:r>
              <a:rPr lang="en-US" sz="3181" b="true">
                <a:solidFill>
                  <a:srgbClr val="595656"/>
                </a:solidFill>
                <a:latin typeface="Poppins Bold"/>
                <a:ea typeface="Poppins Bold"/>
                <a:cs typeface="Poppins Bold"/>
                <a:sym typeface="Poppins Bold"/>
              </a:rPr>
              <a:t>Failure rate vary significantly across pickup-drop location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417271">
            <a:off x="12034468" y="4297620"/>
            <a:ext cx="1365336" cy="662809"/>
          </a:xfrm>
          <a:custGeom>
            <a:avLst/>
            <a:gdLst/>
            <a:ahLst/>
            <a:cxnLst/>
            <a:rect r="r" b="b" t="t" l="l"/>
            <a:pathLst>
              <a:path h="662809" w="1365336">
                <a:moveTo>
                  <a:pt x="0" y="0"/>
                </a:moveTo>
                <a:lnTo>
                  <a:pt x="1365336" y="0"/>
                </a:lnTo>
                <a:lnTo>
                  <a:pt x="1365336" y="662809"/>
                </a:lnTo>
                <a:lnTo>
                  <a:pt x="0" y="662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815551" y="8542836"/>
            <a:ext cx="8881126" cy="135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4"/>
              </a:lnSpc>
            </a:pPr>
            <a:r>
              <a:rPr lang="en-US" sz="253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Note: Bellandur is a major IT hub, where high demand and severe congestion contribute to elevated booking failure rates.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15551" y="2000604"/>
            <a:ext cx="8881126" cy="81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4"/>
              </a:lnSpc>
            </a:pPr>
            <a:r>
              <a:rPr lang="en-US" sz="231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Failure Rate = (Incomplete + Driver Cancelled + Customer Cancelled + Driver Not Found) ÷ Total Bookings × 100%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23293" y="3101841"/>
            <a:ext cx="3469798" cy="6298313"/>
          </a:xfrm>
          <a:custGeom>
            <a:avLst/>
            <a:gdLst/>
            <a:ahLst/>
            <a:cxnLst/>
            <a:rect r="r" b="b" t="t" l="l"/>
            <a:pathLst>
              <a:path h="6298313" w="3469798">
                <a:moveTo>
                  <a:pt x="0" y="0"/>
                </a:moveTo>
                <a:lnTo>
                  <a:pt x="3469798" y="0"/>
                </a:lnTo>
                <a:lnTo>
                  <a:pt x="3469798" y="6298313"/>
                </a:lnTo>
                <a:lnTo>
                  <a:pt x="0" y="629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11155" y="2551831"/>
            <a:ext cx="1332978" cy="1332978"/>
          </a:xfrm>
          <a:custGeom>
            <a:avLst/>
            <a:gdLst/>
            <a:ahLst/>
            <a:cxnLst/>
            <a:rect r="r" b="b" t="t" l="l"/>
            <a:pathLst>
              <a:path h="1332978" w="1332978">
                <a:moveTo>
                  <a:pt x="0" y="0"/>
                </a:moveTo>
                <a:lnTo>
                  <a:pt x="1332978" y="0"/>
                </a:lnTo>
                <a:lnTo>
                  <a:pt x="1332978" y="1332978"/>
                </a:lnTo>
                <a:lnTo>
                  <a:pt x="0" y="1332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16131" y="4238196"/>
            <a:ext cx="1588584" cy="1693258"/>
          </a:xfrm>
          <a:custGeom>
            <a:avLst/>
            <a:gdLst/>
            <a:ahLst/>
            <a:cxnLst/>
            <a:rect r="r" b="b" t="t" l="l"/>
            <a:pathLst>
              <a:path h="1693258" w="1588584">
                <a:moveTo>
                  <a:pt x="0" y="0"/>
                </a:moveTo>
                <a:lnTo>
                  <a:pt x="1588584" y="0"/>
                </a:lnTo>
                <a:lnTo>
                  <a:pt x="1588584" y="1693259"/>
                </a:lnTo>
                <a:lnTo>
                  <a:pt x="0" y="1693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09176" y="4922023"/>
            <a:ext cx="991078" cy="1009431"/>
          </a:xfrm>
          <a:custGeom>
            <a:avLst/>
            <a:gdLst/>
            <a:ahLst/>
            <a:cxnLst/>
            <a:rect r="r" b="b" t="t" l="l"/>
            <a:pathLst>
              <a:path h="1009431" w="991078">
                <a:moveTo>
                  <a:pt x="0" y="0"/>
                </a:moveTo>
                <a:lnTo>
                  <a:pt x="991078" y="0"/>
                </a:lnTo>
                <a:lnTo>
                  <a:pt x="991078" y="1009432"/>
                </a:lnTo>
                <a:lnTo>
                  <a:pt x="0" y="10094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93091" y="3651851"/>
            <a:ext cx="3469798" cy="6298313"/>
          </a:xfrm>
          <a:custGeom>
            <a:avLst/>
            <a:gdLst/>
            <a:ahLst/>
            <a:cxnLst/>
            <a:rect r="r" b="b" t="t" l="l"/>
            <a:pathLst>
              <a:path h="6298313" w="3469798">
                <a:moveTo>
                  <a:pt x="0" y="0"/>
                </a:moveTo>
                <a:lnTo>
                  <a:pt x="3469798" y="0"/>
                </a:lnTo>
                <a:lnTo>
                  <a:pt x="3469798" y="6298313"/>
                </a:lnTo>
                <a:lnTo>
                  <a:pt x="0" y="629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80953" y="3101841"/>
            <a:ext cx="1332978" cy="1332978"/>
          </a:xfrm>
          <a:custGeom>
            <a:avLst/>
            <a:gdLst/>
            <a:ahLst/>
            <a:cxnLst/>
            <a:rect r="r" b="b" t="t" l="l"/>
            <a:pathLst>
              <a:path h="1332978" w="1332978">
                <a:moveTo>
                  <a:pt x="0" y="0"/>
                </a:moveTo>
                <a:lnTo>
                  <a:pt x="1332978" y="0"/>
                </a:lnTo>
                <a:lnTo>
                  <a:pt x="1332978" y="1332978"/>
                </a:lnTo>
                <a:lnTo>
                  <a:pt x="0" y="1332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90663" y="4673024"/>
            <a:ext cx="1913558" cy="1812801"/>
          </a:xfrm>
          <a:custGeom>
            <a:avLst/>
            <a:gdLst/>
            <a:ahLst/>
            <a:cxnLst/>
            <a:rect r="r" b="b" t="t" l="l"/>
            <a:pathLst>
              <a:path h="1812801" w="1913558">
                <a:moveTo>
                  <a:pt x="0" y="0"/>
                </a:moveTo>
                <a:lnTo>
                  <a:pt x="1913558" y="0"/>
                </a:lnTo>
                <a:lnTo>
                  <a:pt x="1913558" y="1812801"/>
                </a:lnTo>
                <a:lnTo>
                  <a:pt x="0" y="18128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8132" t="-32609" r="-28132" b="-3234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62889" y="3292861"/>
            <a:ext cx="3469798" cy="6298313"/>
          </a:xfrm>
          <a:custGeom>
            <a:avLst/>
            <a:gdLst/>
            <a:ahLst/>
            <a:cxnLst/>
            <a:rect r="r" b="b" t="t" l="l"/>
            <a:pathLst>
              <a:path h="6298313" w="3469798">
                <a:moveTo>
                  <a:pt x="0" y="0"/>
                </a:moveTo>
                <a:lnTo>
                  <a:pt x="3469798" y="0"/>
                </a:lnTo>
                <a:lnTo>
                  <a:pt x="3469798" y="6298313"/>
                </a:lnTo>
                <a:lnTo>
                  <a:pt x="0" y="629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50751" y="2742851"/>
            <a:ext cx="1332978" cy="1332978"/>
          </a:xfrm>
          <a:custGeom>
            <a:avLst/>
            <a:gdLst/>
            <a:ahLst/>
            <a:cxnLst/>
            <a:rect r="r" b="b" t="t" l="l"/>
            <a:pathLst>
              <a:path h="1332978" w="1332978">
                <a:moveTo>
                  <a:pt x="0" y="0"/>
                </a:moveTo>
                <a:lnTo>
                  <a:pt x="1332978" y="0"/>
                </a:lnTo>
                <a:lnTo>
                  <a:pt x="1332978" y="1332978"/>
                </a:lnTo>
                <a:lnTo>
                  <a:pt x="0" y="1332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33049" y="4780244"/>
            <a:ext cx="1623617" cy="1292990"/>
          </a:xfrm>
          <a:custGeom>
            <a:avLst/>
            <a:gdLst/>
            <a:ahLst/>
            <a:cxnLst/>
            <a:rect r="r" b="b" t="t" l="l"/>
            <a:pathLst>
              <a:path h="1292990" w="1623617">
                <a:moveTo>
                  <a:pt x="0" y="0"/>
                </a:moveTo>
                <a:lnTo>
                  <a:pt x="1623617" y="0"/>
                </a:lnTo>
                <a:lnTo>
                  <a:pt x="1623617" y="1292990"/>
                </a:lnTo>
                <a:lnTo>
                  <a:pt x="0" y="12929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367903" y="4562930"/>
            <a:ext cx="1016494" cy="1016494"/>
          </a:xfrm>
          <a:custGeom>
            <a:avLst/>
            <a:gdLst/>
            <a:ahLst/>
            <a:cxnLst/>
            <a:rect r="r" b="b" t="t" l="l"/>
            <a:pathLst>
              <a:path h="1016494" w="1016494">
                <a:moveTo>
                  <a:pt x="0" y="0"/>
                </a:moveTo>
                <a:lnTo>
                  <a:pt x="1016494" y="0"/>
                </a:lnTo>
                <a:lnTo>
                  <a:pt x="1016494" y="1016494"/>
                </a:lnTo>
                <a:lnTo>
                  <a:pt x="0" y="10164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632687" y="3651851"/>
            <a:ext cx="3469798" cy="6298313"/>
          </a:xfrm>
          <a:custGeom>
            <a:avLst/>
            <a:gdLst/>
            <a:ahLst/>
            <a:cxnLst/>
            <a:rect r="r" b="b" t="t" l="l"/>
            <a:pathLst>
              <a:path h="6298313" w="3469798">
                <a:moveTo>
                  <a:pt x="0" y="0"/>
                </a:moveTo>
                <a:lnTo>
                  <a:pt x="3469798" y="0"/>
                </a:lnTo>
                <a:lnTo>
                  <a:pt x="3469798" y="6298313"/>
                </a:lnTo>
                <a:lnTo>
                  <a:pt x="0" y="629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620549" y="3101841"/>
            <a:ext cx="1332978" cy="1332978"/>
          </a:xfrm>
          <a:custGeom>
            <a:avLst/>
            <a:gdLst/>
            <a:ahLst/>
            <a:cxnLst/>
            <a:rect r="r" b="b" t="t" l="l"/>
            <a:pathLst>
              <a:path h="1332978" w="1332978">
                <a:moveTo>
                  <a:pt x="0" y="0"/>
                </a:moveTo>
                <a:lnTo>
                  <a:pt x="1332978" y="0"/>
                </a:lnTo>
                <a:lnTo>
                  <a:pt x="1332978" y="1332978"/>
                </a:lnTo>
                <a:lnTo>
                  <a:pt x="0" y="1332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817011" y="4654492"/>
            <a:ext cx="898626" cy="1574026"/>
          </a:xfrm>
          <a:custGeom>
            <a:avLst/>
            <a:gdLst/>
            <a:ahLst/>
            <a:cxnLst/>
            <a:rect r="r" b="b" t="t" l="l"/>
            <a:pathLst>
              <a:path h="1574026" w="898626">
                <a:moveTo>
                  <a:pt x="0" y="0"/>
                </a:moveTo>
                <a:lnTo>
                  <a:pt x="898625" y="0"/>
                </a:lnTo>
                <a:lnTo>
                  <a:pt x="898625" y="1574026"/>
                </a:lnTo>
                <a:lnTo>
                  <a:pt x="0" y="15740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91323" y="185473"/>
            <a:ext cx="17105354" cy="145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9"/>
              </a:lnSpc>
            </a:pPr>
            <a:r>
              <a:rPr lang="en-US" sz="810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Operational Priorities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1323" y="1754009"/>
            <a:ext cx="15511162" cy="673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7"/>
              </a:lnSpc>
            </a:pPr>
            <a:r>
              <a:rPr lang="en-US" sz="369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Focus areas to convert unmet demand into completed rides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25081" y="2477552"/>
            <a:ext cx="1580799" cy="1271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9"/>
              </a:lnSpc>
            </a:pPr>
            <a:r>
              <a:rPr lang="en-US" sz="700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55636" y="6174798"/>
            <a:ext cx="2644016" cy="150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6"/>
              </a:lnSpc>
            </a:pPr>
            <a:r>
              <a:rPr lang="en-US" sz="28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Reduce </a:t>
            </a:r>
          </a:p>
          <a:p>
            <a:pPr algn="ctr">
              <a:lnSpc>
                <a:spcPts val="4026"/>
              </a:lnSpc>
            </a:pPr>
            <a:r>
              <a:rPr lang="en-US" sz="28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Driver Cancellations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18313" y="7949459"/>
            <a:ext cx="2879758" cy="645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88"/>
              </a:lnSpc>
            </a:pPr>
            <a:r>
              <a:rPr lang="en-US" sz="18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 transparency, balanced penalty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98154" y="3027562"/>
            <a:ext cx="1580799" cy="1271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9"/>
              </a:lnSpc>
            </a:pPr>
            <a:r>
              <a:rPr lang="en-US" sz="700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05982" y="6648399"/>
            <a:ext cx="2644016" cy="150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6"/>
              </a:lnSpc>
            </a:pPr>
            <a:r>
              <a:rPr lang="en-US" sz="28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</a:t>
            </a:r>
          </a:p>
          <a:p>
            <a:pPr algn="ctr">
              <a:lnSpc>
                <a:spcPts val="4026"/>
              </a:lnSpc>
            </a:pPr>
            <a:r>
              <a:rPr lang="en-US" sz="28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Driver</a:t>
            </a:r>
          </a:p>
          <a:p>
            <a:pPr algn="ctr">
              <a:lnSpc>
                <a:spcPts val="4026"/>
              </a:lnSpc>
            </a:pPr>
            <a:r>
              <a:rPr lang="en-US" sz="28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Availability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05982" y="8248194"/>
            <a:ext cx="2572971" cy="128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88"/>
              </a:lnSpc>
            </a:pPr>
            <a:r>
              <a:rPr lang="en-US" sz="18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Reduce supply-demand mismatch, reduce driver not found rate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77503" y="2668572"/>
            <a:ext cx="1580799" cy="1271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9"/>
              </a:lnSpc>
            </a:pPr>
            <a:r>
              <a:rPr lang="en-US" sz="700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95232" y="6365818"/>
            <a:ext cx="2644016" cy="150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6"/>
              </a:lnSpc>
            </a:pPr>
            <a:r>
              <a:rPr lang="en-US" sz="28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Reduce </a:t>
            </a:r>
          </a:p>
          <a:p>
            <a:pPr algn="ctr">
              <a:lnSpc>
                <a:spcPts val="4026"/>
              </a:lnSpc>
            </a:pPr>
            <a:r>
              <a:rPr lang="en-US" sz="28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Vehicle  Breakdowns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15097" y="8069674"/>
            <a:ext cx="2965383" cy="112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50"/>
              </a:lnSpc>
            </a:pPr>
            <a:r>
              <a:rPr lang="en-US" sz="160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Enhance vehicle reliability through maintenance partnerships and driver support programmes.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88929" y="3027562"/>
            <a:ext cx="1580799" cy="1271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9"/>
              </a:lnSpc>
            </a:pPr>
            <a:r>
              <a:rPr lang="en-US" sz="700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045578" y="6366568"/>
            <a:ext cx="2644016" cy="150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6"/>
              </a:lnSpc>
            </a:pPr>
            <a:r>
              <a:rPr lang="en-US" sz="28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Focus on High-Failure Routes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23229" y="7903903"/>
            <a:ext cx="2688715" cy="159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41"/>
              </a:lnSpc>
            </a:pPr>
            <a:r>
              <a:rPr lang="en-US" sz="152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Reduce unmet demand on high-failure routes during peak hours via targeted non-cash driver incentives (e.g. vehicle maintenance vouchers)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1323" y="800100"/>
            <a:ext cx="17105354" cy="146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9"/>
              </a:lnSpc>
            </a:pPr>
            <a:r>
              <a:rPr lang="en-US" sz="81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Final 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1323" y="2782752"/>
            <a:ext cx="16883630" cy="404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0915" indent="-350457" lvl="1">
              <a:lnSpc>
                <a:spcPts val="4545"/>
              </a:lnSpc>
              <a:buFont typeface="Arial"/>
              <a:buChar char="•"/>
            </a:pPr>
            <a:r>
              <a:rPr lang="en-US" b="true" sz="324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 of 103,024 booking requests, only 58.28% resulted in completed rides. </a:t>
            </a:r>
          </a:p>
          <a:p>
            <a:pPr algn="just" marL="700915" indent="-350457" lvl="1">
              <a:lnSpc>
                <a:spcPts val="4545"/>
              </a:lnSpc>
              <a:buFont typeface="Arial"/>
              <a:buChar char="•"/>
            </a:pPr>
            <a:r>
              <a:rPr lang="en-US" b="true" sz="324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41.72% of booking requests failed to convert into completed rides, which represent more than 23.7 M in unrealised booking value.</a:t>
            </a:r>
          </a:p>
          <a:p>
            <a:pPr algn="just" marL="700915" indent="-350457" lvl="1">
              <a:lnSpc>
                <a:spcPts val="4545"/>
              </a:lnSpc>
              <a:buFont typeface="Arial"/>
              <a:buChar char="•"/>
            </a:pPr>
            <a:r>
              <a:rPr lang="en-US" b="true" sz="324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evidence suggests that operational reliability and supply availability are the primary constraints on successful rides</a:t>
            </a:r>
          </a:p>
          <a:p>
            <a:pPr algn="just" marL="700915" indent="-350457" lvl="1">
              <a:lnSpc>
                <a:spcPts val="4545"/>
              </a:lnSpc>
              <a:buFont typeface="Arial"/>
              <a:buChar char="•"/>
            </a:pPr>
            <a:r>
              <a:rPr lang="en-US" b="true" sz="324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Improving driver reliability, service availability, and route level performance offers greatest opportunity to convert unmet demand into successful rides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DAHNFyzf4jQ</dc:identifier>
  <dcterms:modified xsi:type="dcterms:W3CDTF">2011-08-01T06:04:30Z</dcterms:modified>
  <cp:revision>1</cp:revision>
  <dc:title>Executive Summary</dc:title>
</cp:coreProperties>
</file>